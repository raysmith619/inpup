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411" r:id="rId2"/>
    <p:sldId id="426" r:id="rId3"/>
    <p:sldId id="312" r:id="rId4"/>
    <p:sldId id="428" r:id="rId5"/>
    <p:sldId id="412" r:id="rId6"/>
    <p:sldId id="413" r:id="rId7"/>
    <p:sldId id="416" r:id="rId8"/>
    <p:sldId id="414" r:id="rId9"/>
    <p:sldId id="417" r:id="rId10"/>
    <p:sldId id="415" r:id="rId11"/>
    <p:sldId id="42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8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8/17/2024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99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14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38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87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212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923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54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091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330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320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life programs, of almost any complexity, will have problems – they often do not operate as desired/expected.</a:t>
            </a:r>
          </a:p>
          <a:p>
            <a:r>
              <a:rPr lang="en-US" dirty="0"/>
              <a:t>Good News – finding and fixing them is often easy and even fun.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827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</a:t>
            </a:r>
            <a:r>
              <a:rPr lang="en-US" dirty="0">
                <a:sym typeface="Wingdings" panose="05000000000000000000" pitchFamily="2" charset="2"/>
              </a:rPr>
              <a:t> Show Line Numbers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861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787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223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260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664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56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085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tutorial.net/tkinter/tkinter-hello-world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Session #7   Graphics +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Questions on Programming?, Python?</a:t>
            </a:r>
          </a:p>
          <a:p>
            <a:r>
              <a:rPr lang="en-US" sz="3600" i="1" dirty="0"/>
              <a:t>Homework questions?</a:t>
            </a:r>
          </a:p>
          <a:p>
            <a:pPr lvl="1"/>
            <a:r>
              <a:rPr lang="en-US" sz="3600" i="1" dirty="0"/>
              <a:t>Who did it? To easy? To hard?</a:t>
            </a:r>
          </a:p>
          <a:p>
            <a:pPr lvl="1"/>
            <a:r>
              <a:rPr lang="en-US" sz="3600" i="1" dirty="0"/>
              <a:t>Questions on problems</a:t>
            </a:r>
          </a:p>
          <a:p>
            <a:pPr lvl="1"/>
            <a:r>
              <a:rPr lang="en-US" sz="3600" i="1" dirty="0"/>
              <a:t>Long answers in Q/A session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5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6F68-5C4A-7F5C-A190-25A4D68D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to Ask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1FE2-B71C-7816-2A60-DDCBAA8A5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Please Ask any question about Programming or Python you are unsure, confused or interested in.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D58BE-BBCC-98BA-FFDD-7D3F1B4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39EF5-3D0E-1A5E-12B1-FA13FC62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AEB7-85CF-407D-D73A-B5F48F66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- Display / Control beyond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1357"/>
            <a:ext cx="8596668" cy="4630005"/>
          </a:xfrm>
        </p:spPr>
        <p:txBody>
          <a:bodyPr>
            <a:normAutofit/>
          </a:bodyPr>
          <a:lstStyle/>
          <a:p>
            <a:r>
              <a:rPr lang="en-US" sz="3600" dirty="0"/>
              <a:t>A number of choices</a:t>
            </a:r>
          </a:p>
          <a:p>
            <a:pPr lvl="1"/>
            <a:r>
              <a:rPr lang="en-US" sz="3400" dirty="0"/>
              <a:t> tkinter (shipped with python)</a:t>
            </a:r>
          </a:p>
          <a:p>
            <a:pPr lvl="1"/>
            <a:r>
              <a:rPr lang="en-US" sz="3400" dirty="0"/>
              <a:t> wxPython (must be installed)</a:t>
            </a:r>
          </a:p>
          <a:p>
            <a:r>
              <a:rPr lang="en-US" sz="3600" dirty="0"/>
              <a:t>tkinter—interface to Tcl/Tk</a:t>
            </a:r>
          </a:p>
          <a:p>
            <a:pPr lvl="1"/>
            <a:r>
              <a:rPr lang="en-US" sz="3400" dirty="0"/>
              <a:t>Shipped with Python</a:t>
            </a:r>
          </a:p>
          <a:p>
            <a:pPr lvl="1"/>
            <a:r>
              <a:rPr lang="en-US" sz="3400" dirty="0"/>
              <a:t>Good example of Graphics Ideas</a:t>
            </a:r>
          </a:p>
          <a:p>
            <a:pPr lvl="1"/>
            <a:r>
              <a:rPr lang="en-US" sz="3400" dirty="0"/>
              <a:t>Basis for turtle</a:t>
            </a: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97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- wxPython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1357"/>
            <a:ext cx="8596668" cy="4630005"/>
          </a:xfrm>
        </p:spPr>
        <p:txBody>
          <a:bodyPr>
            <a:normAutofit/>
          </a:bodyPr>
          <a:lstStyle/>
          <a:p>
            <a:pPr lvl="1"/>
            <a:r>
              <a:rPr lang="en-US" sz="3400" dirty="0"/>
              <a:t>Must be installed</a:t>
            </a:r>
          </a:p>
          <a:p>
            <a:pPr lvl="1"/>
            <a:r>
              <a:rPr lang="en-US" sz="3400" dirty="0"/>
              <a:t>Similar event style to other graphics</a:t>
            </a:r>
          </a:p>
          <a:p>
            <a:pPr lvl="1"/>
            <a:r>
              <a:rPr lang="en-US" sz="3400" dirty="0"/>
              <a:t>More connected to screen readers</a:t>
            </a: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94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Event driven</a:t>
            </a:r>
          </a:p>
          <a:p>
            <a:pPr lvl="1"/>
            <a:r>
              <a:rPr lang="en-US" sz="3400" dirty="0"/>
              <a:t>Action happens when events occur</a:t>
            </a:r>
          </a:p>
          <a:p>
            <a:pPr lvl="2"/>
            <a:r>
              <a:rPr lang="en-US" sz="3200" dirty="0"/>
              <a:t>Mouse clicks, time passing</a:t>
            </a:r>
          </a:p>
          <a:p>
            <a:r>
              <a:rPr lang="en-US" sz="3600" dirty="0"/>
              <a:t>Object Oriented</a:t>
            </a:r>
          </a:p>
          <a:p>
            <a:pPr lvl="1"/>
            <a:r>
              <a:rPr lang="en-US" sz="3400" dirty="0"/>
              <a:t>Programming is done in parts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60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sm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Creating a window</a:t>
            </a:r>
            <a:br>
              <a:rPr lang="en-US" dirty="0"/>
            </a:br>
            <a:r>
              <a:rPr lang="en-US" sz="2400" dirty="0"/>
              <a:t>exercises/graphics/my_window.py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US" sz="3200" dirty="0"/>
              <a:t>import tkinter as tk</a:t>
            </a:r>
          </a:p>
          <a:p>
            <a:pPr marL="914400" lvl="2" indent="0">
              <a:buNone/>
            </a:pPr>
            <a:endParaRPr lang="en-US" sz="3200" dirty="0"/>
          </a:p>
          <a:p>
            <a:pPr marL="914400" lvl="2" indent="0">
              <a:buNone/>
            </a:pPr>
            <a:r>
              <a:rPr lang="en-US" sz="3200" dirty="0"/>
              <a:t>root = tk.Tk()</a:t>
            </a:r>
          </a:p>
          <a:p>
            <a:pPr marL="914400" lvl="2" indent="0">
              <a:buNone/>
            </a:pPr>
            <a:r>
              <a:rPr lang="en-US" sz="3200" dirty="0"/>
              <a:t>root.mainloop()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2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Simple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Simple "Hello" program</a:t>
            </a:r>
          </a:p>
          <a:p>
            <a:pPr lvl="1"/>
            <a:r>
              <a:rPr lang="en-US" sz="3400" dirty="0"/>
              <a:t>exercises/graphics/gr_hello.py</a:t>
            </a:r>
          </a:p>
          <a:p>
            <a:r>
              <a:rPr lang="en-US" sz="3600" dirty="0"/>
              <a:t>Get input</a:t>
            </a:r>
          </a:p>
          <a:p>
            <a:pPr lvl="1"/>
            <a:r>
              <a:rPr lang="en-US" sz="3400" dirty="0"/>
              <a:t>exercises/graphics/gr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61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widgets – graphics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/>
              <a:t>Frame – Holder, can hold other Frames</a:t>
            </a:r>
          </a:p>
          <a:p>
            <a:pPr marL="971550" lvl="1" indent="-457200"/>
            <a:r>
              <a:rPr lang="en-US" sz="3400" dirty="0"/>
              <a:t>Label – Has text / picture</a:t>
            </a:r>
          </a:p>
          <a:p>
            <a:pPr marL="971550" lvl="1" indent="-457200"/>
            <a:r>
              <a:rPr lang="en-US" sz="3400" dirty="0"/>
              <a:t>Button – Accepts mouse control (click)</a:t>
            </a:r>
          </a:p>
          <a:p>
            <a:pPr marL="971550" lvl="1" indent="-457200"/>
            <a:r>
              <a:rPr lang="en-US" sz="3400" dirty="0"/>
              <a:t>Entry - Input</a:t>
            </a:r>
          </a:p>
          <a:p>
            <a:pPr marL="971550" lvl="1" indent="-457200"/>
            <a:r>
              <a:rPr lang="en-US" sz="3400" dirty="0"/>
              <a:t>Text – holds free text</a:t>
            </a:r>
          </a:p>
          <a:p>
            <a:pPr marL="971550" lvl="1" indent="-457200"/>
            <a:r>
              <a:rPr lang="en-US" sz="3400" dirty="0"/>
              <a:t>Scrollbar – controls scrolling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38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Frame,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/>
              <a:t>exercises/graphics/tutorial_hello_world.py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67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Event driven</a:t>
            </a:r>
          </a:p>
          <a:p>
            <a:r>
              <a:rPr lang="en-US" sz="3600" dirty="0"/>
              <a:t>Object Oriented</a:t>
            </a:r>
          </a:p>
          <a:p>
            <a:r>
              <a:rPr lang="en-US" sz="3600" dirty="0"/>
              <a:t>Simple tkinter tutorial: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70C0"/>
                </a:solidFill>
                <a:hlinkClick r:id="rId3"/>
              </a:rPr>
              <a:t>https://www.pythontutorial.net/tkinter/tkinter-hello-world/</a:t>
            </a:r>
            <a:endParaRPr lang="en-US" sz="36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rgbClr val="0070C0"/>
              </a:solidFill>
            </a:endParaRP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49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Graphics – Example</a:t>
            </a:r>
            <a:br>
              <a:rPr lang="en-US" dirty="0"/>
            </a:br>
            <a:r>
              <a:rPr lang="en-US" dirty="0"/>
              <a:t>Simple Notes data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Display file lines containing pattern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Terminal based </a:t>
            </a:r>
          </a:p>
          <a:p>
            <a:pPr marL="914400" lvl="2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exercises/notes/notes_3e.py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Graphics version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	</a:t>
            </a:r>
            <a:r>
              <a:rPr lang="en-US" sz="3200" dirty="0">
                <a:solidFill>
                  <a:srgbClr val="00B0F0"/>
                </a:solidFill>
              </a:rPr>
              <a:t>exercises/graphics/notes_graphics.py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	exercises/graphics/notes_data_win.py</a:t>
            </a:r>
          </a:p>
          <a:p>
            <a:pPr lvl="1"/>
            <a:endParaRPr lang="en-US" sz="34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69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Debugging</a:t>
            </a:r>
            <a:br>
              <a:rPr lang="en-US" dirty="0"/>
            </a:br>
            <a:r>
              <a:rPr lang="en-US" dirty="0"/>
              <a:t> – Dealing with program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4000" dirty="0"/>
              <a:t>print statements in the program</a:t>
            </a:r>
          </a:p>
          <a:p>
            <a:r>
              <a:rPr lang="en-US" sz="4000" dirty="0"/>
              <a:t>"too noisy"- include "if </a:t>
            </a:r>
            <a:r>
              <a:rPr lang="en-US" sz="4000" i="1" dirty="0"/>
              <a:t>trace_flag:"</a:t>
            </a:r>
          </a:p>
          <a:p>
            <a:r>
              <a:rPr lang="en-US" sz="4000" i="1" dirty="0"/>
              <a:t>Break up complex operations</a:t>
            </a:r>
          </a:p>
          <a:p>
            <a:r>
              <a:rPr lang="en-US" sz="4000" i="1" dirty="0"/>
              <a:t>Use descriptive variables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583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Debugging</a:t>
            </a:r>
            <a:br>
              <a:rPr lang="en-US" dirty="0"/>
            </a:br>
            <a:r>
              <a:rPr lang="en-US" dirty="0"/>
              <a:t> – IDLE Debugger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3600" dirty="0"/>
              <a:t>Open program file to be debugged</a:t>
            </a:r>
          </a:p>
          <a:p>
            <a:r>
              <a:rPr lang="en-US" sz="3600" dirty="0"/>
              <a:t>Run </a:t>
            </a:r>
            <a:r>
              <a:rPr lang="en-US" sz="3600" dirty="0">
                <a:sym typeface="Wingdings" panose="05000000000000000000" pitchFamily="2" charset="2"/>
              </a:rPr>
              <a:t>Python Shell</a:t>
            </a:r>
          </a:p>
          <a:p>
            <a:endParaRPr lang="en-US" sz="3600" dirty="0"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57B64-D571-4CBE-8657-BC41B3A4B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02380"/>
            <a:ext cx="1219200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3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Debugging</a:t>
            </a:r>
            <a:br>
              <a:rPr lang="en-US" dirty="0"/>
            </a:br>
            <a:r>
              <a:rPr lang="en-US" dirty="0"/>
              <a:t> – IDLE Debugger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3600" dirty="0"/>
              <a:t>From IDLE Shell</a:t>
            </a:r>
          </a:p>
          <a:p>
            <a:r>
              <a:rPr lang="en-US" sz="3600" dirty="0"/>
              <a:t>Debug </a:t>
            </a:r>
            <a:r>
              <a:rPr lang="en-US" sz="3600" dirty="0">
                <a:sym typeface="Wingdings" panose="05000000000000000000" pitchFamily="2" charset="2"/>
              </a:rPr>
              <a:t> Debugger</a:t>
            </a:r>
          </a:p>
          <a:p>
            <a:endParaRPr lang="en-US" sz="3600" dirty="0"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3F8AF-5462-418F-9E92-7FC75B21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3785"/>
            <a:ext cx="12192000" cy="34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9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IDLE Debugger</a:t>
            </a:r>
            <a:br>
              <a:rPr lang="en-US" dirty="0"/>
            </a:br>
            <a:r>
              <a:rPr lang="en-US" dirty="0"/>
              <a:t> – Debug Control Window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361684-D2F7-49A6-9ACD-CF11BEAF1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1522" y="2160588"/>
            <a:ext cx="5808193" cy="38814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648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 Control</a:t>
            </a:r>
            <a:br>
              <a:rPr lang="en-US" dirty="0"/>
            </a:br>
            <a:r>
              <a:rPr lang="en-US" dirty="0"/>
              <a:t> Operation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AD5BCF-A580-42A7-8820-4A0D1990F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File window (with DEBUG ON) </a:t>
            </a:r>
            <a:r>
              <a:rPr lang="en-US" sz="3600" dirty="0">
                <a:sym typeface="Wingdings" panose="05000000000000000000" pitchFamily="2" charset="2"/>
              </a:rPr>
              <a:t> Run  Run Module</a:t>
            </a:r>
          </a:p>
          <a:p>
            <a:endParaRPr lang="en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61DEBF-E135-4C20-9077-665491948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508" y="2922589"/>
            <a:ext cx="7699932" cy="401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 Control</a:t>
            </a:r>
            <a:br>
              <a:rPr lang="en-US" dirty="0"/>
            </a:br>
            <a:r>
              <a:rPr lang="en-US" dirty="0"/>
              <a:t> Operation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AD5BCF-A580-42A7-8820-4A0D1990F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Go – start program</a:t>
            </a:r>
          </a:p>
          <a:p>
            <a:r>
              <a:rPr lang="en-US" sz="3600" dirty="0">
                <a:sym typeface="Wingdings" panose="05000000000000000000" pitchFamily="2" charset="2"/>
              </a:rPr>
              <a:t>Step – do one statement</a:t>
            </a:r>
          </a:p>
          <a:p>
            <a:r>
              <a:rPr lang="en-US" sz="3600" dirty="0">
                <a:sym typeface="Wingdings" panose="05000000000000000000" pitchFamily="2" charset="2"/>
              </a:rPr>
              <a:t>Over – do one statement over internal</a:t>
            </a:r>
          </a:p>
          <a:p>
            <a:r>
              <a:rPr lang="en-US" sz="3600" dirty="0">
                <a:sym typeface="Wingdings" panose="05000000000000000000" pitchFamily="2" charset="2"/>
              </a:rPr>
              <a:t>Out – execute till out of current routine</a:t>
            </a:r>
          </a:p>
          <a:p>
            <a:r>
              <a:rPr lang="en-US" sz="3600" dirty="0">
                <a:sym typeface="Wingdings" panose="05000000000000000000" pitchFamily="2" charset="2"/>
              </a:rPr>
              <a:t>Quit – quit program debugging 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336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 Control</a:t>
            </a:r>
            <a:br>
              <a:rPr lang="en-US" dirty="0"/>
            </a:br>
            <a:r>
              <a:rPr lang="en-US" dirty="0"/>
              <a:t> Operation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AD5BCF-A580-42A7-8820-4A0D1990F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[] Stack – display program stack</a:t>
            </a:r>
          </a:p>
          <a:p>
            <a:r>
              <a:rPr lang="en-US" sz="3600" dirty="0"/>
              <a:t>[] Source – show source location</a:t>
            </a:r>
          </a:p>
          <a:p>
            <a:r>
              <a:rPr lang="en-US" sz="3600" dirty="0"/>
              <a:t>[] Locals – display local variables</a:t>
            </a:r>
          </a:p>
          <a:p>
            <a:r>
              <a:rPr lang="en-US" sz="3600" dirty="0"/>
              <a:t>[] Globals – display 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192163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 Control</a:t>
            </a:r>
            <a:br>
              <a:rPr lang="en-US" dirty="0"/>
            </a:br>
            <a:r>
              <a:rPr lang="en-US" dirty="0"/>
              <a:t> Operation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AD5BCF-A580-42A7-8820-4A0D1990F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Edit File – Set Break Point</a:t>
            </a:r>
          </a:p>
          <a:p>
            <a:pPr marL="0" indent="0">
              <a:buNone/>
            </a:pPr>
            <a:r>
              <a:rPr lang="en-US" sz="3600" dirty="0">
                <a:sym typeface="Wingdings" panose="05000000000000000000" pitchFamily="2" charset="2"/>
              </a:rPr>
              <a:t> Debugging execution will pause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9EA6-8527-4F55-9F8E-AB130354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421492"/>
            <a:ext cx="11439525" cy="21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35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4561</TotalTime>
  <Words>1051</Words>
  <Application>Microsoft Office PowerPoint</Application>
  <PresentationFormat>Widescreen</PresentationFormat>
  <Paragraphs>218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Trebuchet MS</vt:lpstr>
      <vt:lpstr>Wingdings</vt:lpstr>
      <vt:lpstr>Wingdings 3</vt:lpstr>
      <vt:lpstr>Facet</vt:lpstr>
      <vt:lpstr>Session #7   Graphics + Debugging</vt:lpstr>
      <vt:lpstr>Time to Ask Questions</vt:lpstr>
      <vt:lpstr>Graphics - Display / Control beyond text</vt:lpstr>
      <vt:lpstr>Graphics - wxPython</vt:lpstr>
      <vt:lpstr>Graphics – continued</vt:lpstr>
      <vt:lpstr>Graphics – Creating a window exercises/graphics/my_window.py</vt:lpstr>
      <vt:lpstr>Graphics – Simple Messages</vt:lpstr>
      <vt:lpstr>Graphics – widgets – graphics tools</vt:lpstr>
      <vt:lpstr>Graphics – Frame, Button</vt:lpstr>
      <vt:lpstr>Graphics – continued</vt:lpstr>
      <vt:lpstr>Graphics – Example Simple Notes data base</vt:lpstr>
      <vt:lpstr>Debugging  – Dealing with program problems</vt:lpstr>
      <vt:lpstr>Debugging  – IDLE Debugger</vt:lpstr>
      <vt:lpstr>Debugging  – IDLE Debugger</vt:lpstr>
      <vt:lpstr>IDLE Debugger  – Debug Control Window</vt:lpstr>
      <vt:lpstr>Debug Control  Operation</vt:lpstr>
      <vt:lpstr>Debug Control  Operation</vt:lpstr>
      <vt:lpstr>Debug Control  Operation</vt:lpstr>
      <vt:lpstr>Debug Control  Operation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16</cp:revision>
  <dcterms:created xsi:type="dcterms:W3CDTF">2021-08-10T18:56:35Z</dcterms:created>
  <dcterms:modified xsi:type="dcterms:W3CDTF">2024-08-17T14:29:45Z</dcterms:modified>
</cp:coreProperties>
</file>