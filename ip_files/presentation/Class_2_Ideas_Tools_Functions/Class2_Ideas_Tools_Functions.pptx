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5"/>
  </p:notesMasterIdLst>
  <p:sldIdLst>
    <p:sldId id="326" r:id="rId2"/>
    <p:sldId id="398" r:id="rId3"/>
    <p:sldId id="257" r:id="rId4"/>
    <p:sldId id="258" r:id="rId5"/>
    <p:sldId id="259" r:id="rId6"/>
    <p:sldId id="260" r:id="rId7"/>
    <p:sldId id="261" r:id="rId8"/>
    <p:sldId id="262" r:id="rId9"/>
    <p:sldId id="327" r:id="rId10"/>
    <p:sldId id="328" r:id="rId11"/>
    <p:sldId id="418" r:id="rId12"/>
    <p:sldId id="419" r:id="rId13"/>
    <p:sldId id="420" r:id="rId14"/>
    <p:sldId id="369" r:id="rId15"/>
    <p:sldId id="409" r:id="rId16"/>
    <p:sldId id="411" r:id="rId17"/>
    <p:sldId id="298" r:id="rId18"/>
    <p:sldId id="416" r:id="rId19"/>
    <p:sldId id="299" r:id="rId20"/>
    <p:sldId id="415" r:id="rId21"/>
    <p:sldId id="300" r:id="rId22"/>
    <p:sldId id="301" r:id="rId23"/>
    <p:sldId id="302" r:id="rId24"/>
    <p:sldId id="417" r:id="rId25"/>
    <p:sldId id="304" r:id="rId26"/>
    <p:sldId id="305" r:id="rId27"/>
    <p:sldId id="344" r:id="rId28"/>
    <p:sldId id="345" r:id="rId29"/>
    <p:sldId id="346" r:id="rId30"/>
    <p:sldId id="348" r:id="rId31"/>
    <p:sldId id="347" r:id="rId32"/>
    <p:sldId id="349" r:id="rId33"/>
    <p:sldId id="350" r:id="rId34"/>
    <p:sldId id="351" r:id="rId35"/>
    <p:sldId id="352" r:id="rId36"/>
    <p:sldId id="280" r:id="rId37"/>
    <p:sldId id="281" r:id="rId38"/>
    <p:sldId id="279" r:id="rId39"/>
    <p:sldId id="282" r:id="rId40"/>
    <p:sldId id="394" r:id="rId41"/>
    <p:sldId id="284" r:id="rId42"/>
    <p:sldId id="290" r:id="rId43"/>
    <p:sldId id="297" r:id="rId44"/>
    <p:sldId id="291" r:id="rId45"/>
    <p:sldId id="292" r:id="rId46"/>
    <p:sldId id="293" r:id="rId47"/>
    <p:sldId id="294" r:id="rId48"/>
    <p:sldId id="295" r:id="rId49"/>
    <p:sldId id="322" r:id="rId50"/>
    <p:sldId id="323" r:id="rId51"/>
    <p:sldId id="324" r:id="rId52"/>
    <p:sldId id="412" r:id="rId53"/>
    <p:sldId id="382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95" autoAdjust="0"/>
    <p:restoredTop sz="86403" autoAdjust="0"/>
  </p:normalViewPr>
  <p:slideViewPr>
    <p:cSldViewPr snapToGrid="0">
      <p:cViewPr varScale="1">
        <p:scale>
          <a:sx n="57" d="100"/>
          <a:sy n="57" d="100"/>
        </p:scale>
        <p:origin x="56" y="8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277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6383C2-3030-4667-B744-9D0165F8BBCA}" type="datetimeFigureOut">
              <a:rPr lang="en-US" smtClean="0"/>
              <a:t>8/13/2024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70BF2-38F4-48A6-B235-5A013A79988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528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3873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complex activities (reading, skiing, wood work, cooking) – have levels of experties, training, tools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3790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does a car do for you?</a:t>
            </a:r>
          </a:p>
          <a:p>
            <a:r>
              <a:rPr lang="en-US" dirty="0"/>
              <a:t>What does a car do that you don't really need / want?</a:t>
            </a:r>
          </a:p>
          <a:p>
            <a:r>
              <a:rPr lang="en-US" dirty="0"/>
              <a:t>What is the most difficult thing about using a new car?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19742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What's difficult about using recipes, maps, instructions?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3319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makes programming easy/easier than work in the "physical" workplace?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12104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not so easy in programming?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84566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A596092B-28C7-44D1-B902-5437B333DFB7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6128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range is an easy way of generating a sequence of numbers.</a:t>
            </a:r>
          </a:p>
          <a:p>
            <a:r>
              <a:rPr lang="en-US" dirty="0"/>
              <a:t>Not a list but an object, called an iterable, which gives the contents in order when invoked.</a:t>
            </a:r>
          </a:p>
          <a:p>
            <a:r>
              <a:rPr lang="en-US" dirty="0"/>
              <a:t>list(range(5)) returns a list of [0,1,2,3,4]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/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A596092B-28C7-44D1-B902-5437B333DFB7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A791329-992B-4F83-8435-C33B0EC26DB3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663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Often called subroutines, procedures</a:t>
            </a:r>
          </a:p>
          <a:p>
            <a:r>
              <a:rPr lang="en-US" dirty="0"/>
              <a:t>One, if not the most, powerful concepts/tools of programming</a:t>
            </a:r>
          </a:p>
          <a:p>
            <a:r>
              <a:rPr lang="en-US" dirty="0"/>
              <a:t>With almost nothing else one can start programming quite complex things.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46442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20645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 Calling / Invocation</a:t>
            </a:r>
          </a:p>
          <a:p>
            <a:r>
              <a:rPr lang="en-US" dirty="0"/>
              <a:t>How do we call the function?</a:t>
            </a:r>
          </a:p>
          <a:p>
            <a:r>
              <a:rPr lang="en-US" dirty="0"/>
              <a:t>Called with the function name</a:t>
            </a:r>
          </a:p>
          <a:p>
            <a:r>
              <a:rPr lang="en-US" dirty="0"/>
              <a:t>Including parenthesized list of values</a:t>
            </a:r>
          </a:p>
          <a:p>
            <a:r>
              <a:rPr lang="en-US" dirty="0"/>
              <a:t>The values are passed to the function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73226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Missing or misplaced function arguments are a big problem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71985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are the benefits of using None vs explicit value?</a:t>
            </a:r>
          </a:p>
          <a:p>
            <a:r>
              <a:rPr lang="en-US" dirty="0"/>
              <a:t>None is used to definitely indicate no value was supplied.</a:t>
            </a:r>
          </a:p>
          <a:p>
            <a:r>
              <a:rPr lang="en-US" dirty="0"/>
              <a:t>In this case – the call was made without the keyword parameter.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45287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7092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26513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91548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74755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1326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51258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70915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90772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43406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loops?</a:t>
            </a:r>
          </a:p>
          <a:p>
            <a:r>
              <a:rPr lang="en-US" dirty="0"/>
              <a:t>What should a loop have / do?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34768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loops?</a:t>
            </a:r>
          </a:p>
          <a:p>
            <a:r>
              <a:rPr lang="en-US" dirty="0"/>
              <a:t>What should a loop have / do?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29041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Accepting input and dealing with it makes programs much more powerful than calculators or Television.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3929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is(are) the simplest idea(s)</a:t>
            </a:r>
          </a:p>
          <a:p>
            <a:r>
              <a:rPr lang="en-US" dirty="0"/>
              <a:t>Before anything else what does the program do?</a:t>
            </a:r>
          </a:p>
          <a:p>
            <a:r>
              <a:rPr lang="en-US" dirty="0"/>
              <a:t>What's the next?</a:t>
            </a:r>
          </a:p>
          <a:p>
            <a:r>
              <a:rPr lang="en-US" dirty="0"/>
              <a:t>Progress is good for YOU too!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13219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variables?</a:t>
            </a:r>
          </a:p>
          <a:p>
            <a:r>
              <a:rPr lang="en-US" dirty="0"/>
              <a:t>What are the issues with variables?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92585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any place that has parentheses allows multi-line / indentation free formatting. Examples: arithmetic (….), print(….), and other functions.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29591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mix spaces and tabs</a:t>
            </a:r>
          </a:p>
          <a:p>
            <a:r>
              <a:rPr lang="en-US" dirty="0"/>
              <a:t>Stick with spaces</a:t>
            </a:r>
          </a:p>
          <a:p>
            <a:r>
              <a:rPr lang="en-US" dirty="0"/>
              <a:t>Editor can help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98684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do we find examples?</a:t>
            </a:r>
          </a:p>
          <a:p>
            <a:r>
              <a:rPr lang="en-US" dirty="0"/>
              <a:t>   Internet</a:t>
            </a:r>
          </a:p>
          <a:p>
            <a:r>
              <a:rPr lang="en-US" dirty="0"/>
              <a:t>   Documentation</a:t>
            </a:r>
          </a:p>
          <a:p>
            <a:r>
              <a:rPr lang="en-US" dirty="0"/>
              <a:t>   Tutorials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596704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Internet is like a bunch of varied friends</a:t>
            </a:r>
          </a:p>
          <a:p>
            <a:r>
              <a:rPr lang="en-US" dirty="0"/>
              <a:t>Often correct but sometimes on a different track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52936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previous iteration as a start to the next.</a:t>
            </a:r>
          </a:p>
          <a:p>
            <a:r>
              <a:rPr lang="en-US" dirty="0"/>
              <a:t>I'll go around and watch.</a:t>
            </a:r>
          </a:p>
          <a:p>
            <a:r>
              <a:rPr lang="en-US" dirty="0"/>
              <a:t>Raise had if a question.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 to Programming using Python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96092B-28C7-44D1-B902-5437B333DFB7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791329-992B-4F83-8435-C33B0EC26D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8269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F5501-EE91-4443-9D3B-24E6F28D34E2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574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375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13D6-B8C2-463B-B3F7-C62E098B328E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824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63420-31EE-4E4B-911C-2601B14D9FDD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310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986D-86F8-41E6-8CFF-8C91AEF92622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894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85161-032E-4C6A-8EDA-39D168DF18E4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754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E6740-E523-48D9-9C4E-6F218E87BAF3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64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1D4CA-FF09-4CB8-8D51-2613D19A0F2E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955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779EA-AEA7-43B3-9B65-A77E9A890421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765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E1E9-8456-43AD-BA28-861520D256B9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140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31E0C-AAFD-4E63-B3AE-16CD757951F4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7101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084FF-4715-4B6E-BD22-453621E5873F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027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37F8D-4DF5-4AB6-A766-5A84B3D74A3B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695259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3CD1A-162D-40B2-9B22-9056F77C27F2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1730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E4200-B1E5-4E39-8279-05DD69810A37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3413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F7895-00AC-42E5-9790-7B0E3CE09DF2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177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A67F1-3EA0-4026-BE6A-31EE4E1B1DB5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629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54292-3700-41F6-9D5E-0E24D101E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1634359"/>
          </a:xfrm>
          <a:noFill/>
        </p:spPr>
        <p:txBody>
          <a:bodyPr>
            <a:noAutofit/>
          </a:bodyPr>
          <a:lstStyle/>
          <a:p>
            <a:r>
              <a:rPr lang="en-US" sz="5400" dirty="0"/>
              <a:t>Session #2</a:t>
            </a:r>
            <a:br>
              <a:rPr lang="en-US" sz="5400" dirty="0"/>
            </a:br>
            <a:r>
              <a:rPr lang="en-US" sz="5400" dirty="0"/>
              <a:t>Ideas, Tools, Functions</a:t>
            </a:r>
            <a:br>
              <a:rPr lang="en-US" sz="4800" dirty="0"/>
            </a:br>
            <a:r>
              <a:rPr lang="en-US" sz="4800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3A2E9-F92A-4138-AB56-E45FDFDB9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527738"/>
            <a:ext cx="8596668" cy="3513624"/>
          </a:xfrm>
        </p:spPr>
        <p:txBody>
          <a:bodyPr>
            <a:normAutofit/>
          </a:bodyPr>
          <a:lstStyle/>
          <a:p>
            <a:r>
              <a:rPr lang="en-US" sz="3600" dirty="0"/>
              <a:t>Questions on Programming?, Python?</a:t>
            </a:r>
          </a:p>
          <a:p>
            <a:r>
              <a:rPr lang="en-US" sz="3600" i="1" dirty="0"/>
              <a:t>Homework questions?</a:t>
            </a:r>
          </a:p>
          <a:p>
            <a:pPr lvl="1"/>
            <a:r>
              <a:rPr lang="en-US" sz="3200" i="1" dirty="0"/>
              <a:t>Who tried it? To easy? To hard?</a:t>
            </a:r>
          </a:p>
          <a:p>
            <a:pPr lvl="1"/>
            <a:r>
              <a:rPr lang="en-US" sz="3200" i="1" dirty="0"/>
              <a:t>Long answers in Q/A session</a:t>
            </a:r>
          </a:p>
          <a:p>
            <a:endParaRPr lang="en-US" sz="3600" dirty="0"/>
          </a:p>
          <a:p>
            <a:endParaRPr lang="en-US" sz="36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316E3-5F9A-45A5-8DD7-027BC02B2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42634-8437-434B-AC71-7CC2B3CC7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54AF8-0519-4022-B91A-AE6F92C77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65898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54292-3700-41F6-9D5E-0E24D101E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Ideas – Take a step 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3A2E9-F92A-4138-AB56-E45FDFDB9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/>
              <a:t>What is programming</a:t>
            </a:r>
          </a:p>
          <a:p>
            <a:pPr lvl="1"/>
            <a:r>
              <a:rPr lang="en-US" sz="3600" dirty="0"/>
              <a:t>Like</a:t>
            </a:r>
          </a:p>
          <a:p>
            <a:pPr lvl="1"/>
            <a:r>
              <a:rPr lang="en-US" sz="3600" dirty="0"/>
              <a:t>Not like</a:t>
            </a:r>
          </a:p>
          <a:p>
            <a:r>
              <a:rPr lang="en-US" sz="3600" dirty="0"/>
              <a:t>Programming Tools</a:t>
            </a:r>
          </a:p>
          <a:p>
            <a:pPr lvl="1"/>
            <a:r>
              <a:rPr lang="en-US" sz="3600" dirty="0"/>
              <a:t>Creating, Running</a:t>
            </a:r>
          </a:p>
          <a:p>
            <a:pPr lvl="1"/>
            <a:r>
              <a:rPr lang="en-US" sz="3600" dirty="0"/>
              <a:t>Improving through – copy, iteration</a:t>
            </a:r>
          </a:p>
          <a:p>
            <a:endParaRPr lang="en-US" sz="36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316E3-5F9A-45A5-8DD7-027BC02B2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42634-8437-434B-AC71-7CC2B3CC7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54AF8-0519-4022-B91A-AE6F92C77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1642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B88C5-A4F7-4F84-AF1C-EAF09CC94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29478"/>
          </a:xfrm>
        </p:spPr>
        <p:txBody>
          <a:bodyPr>
            <a:normAutofit fontScale="90000"/>
          </a:bodyPr>
          <a:lstStyle/>
          <a:p>
            <a:r>
              <a:rPr lang="en-US" dirty="0"/>
              <a:t>Programming Concepts</a:t>
            </a:r>
            <a:br>
              <a:rPr lang="en-US" dirty="0"/>
            </a:br>
            <a:endParaRPr lang="en-US" sz="2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FA9AD-AD77-482D-B808-F5B4456E3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57739"/>
            <a:ext cx="8596668" cy="4583623"/>
          </a:xfrm>
        </p:spPr>
        <p:txBody>
          <a:bodyPr>
            <a:normAutofit fontScale="77500" lnSpcReduction="20000"/>
          </a:bodyPr>
          <a:lstStyle/>
          <a:p>
            <a:r>
              <a:rPr lang="en-US" sz="3600" dirty="0"/>
              <a:t>Computer == VERY Obedient Servant</a:t>
            </a:r>
          </a:p>
          <a:p>
            <a:r>
              <a:rPr lang="en-US" sz="3600" dirty="0"/>
              <a:t>programming - controls the computer</a:t>
            </a:r>
          </a:p>
          <a:p>
            <a:pPr marL="0" indent="0">
              <a:buNone/>
            </a:pPr>
            <a:r>
              <a:rPr lang="en-US" sz="3600" dirty="0"/>
              <a:t> </a:t>
            </a:r>
          </a:p>
          <a:p>
            <a:r>
              <a:rPr lang="en-US" sz="3600" dirty="0"/>
              <a:t>Car Example ( or bike, or TV)</a:t>
            </a:r>
          </a:p>
          <a:p>
            <a:pPr lvl="1"/>
            <a:r>
              <a:rPr lang="en-US" sz="3600" dirty="0"/>
              <a:t>Most cars are alike</a:t>
            </a:r>
          </a:p>
          <a:p>
            <a:pPr lvl="1"/>
            <a:r>
              <a:rPr lang="en-US" sz="3600" dirty="0"/>
              <a:t>Does what you tell it – hopefully what you want</a:t>
            </a:r>
          </a:p>
          <a:p>
            <a:pPr lvl="1"/>
            <a:r>
              <a:rPr lang="en-US" sz="3600" dirty="0"/>
              <a:t>Same response every time – </a:t>
            </a:r>
            <a:r>
              <a:rPr lang="en-US" sz="4300" b="1" dirty="0"/>
              <a:t>almost</a:t>
            </a:r>
            <a:r>
              <a:rPr lang="en-US" sz="3600" dirty="0"/>
              <a:t> – e.g. forward / backward</a:t>
            </a:r>
          </a:p>
          <a:p>
            <a:pPr lvl="1"/>
            <a:r>
              <a:rPr lang="en-US" sz="3600" dirty="0"/>
              <a:t>Troubles - Car gets the blame…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429B4-9D6D-409B-BC16-523FA831C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136F0E-77BB-4D7A-B934-85448C938E7B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24454-A762-4011-B849-BC82BF49A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253BC08-E8A4-4620-B7CB-1F44A0E9C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</p:spTree>
    <p:extLst>
      <p:ext uri="{BB962C8B-B14F-4D97-AF65-F5344CB8AC3E}">
        <p14:creationId xmlns:p14="http://schemas.microsoft.com/office/powerpoint/2010/main" val="2949794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B6494-DAE1-47A7-9837-F8A418F97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Similar Activities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903CF-F147-4DB6-99F2-7127B552E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sz="3600" dirty="0"/>
              <a:t>Abstract / Indirect</a:t>
            </a:r>
          </a:p>
          <a:p>
            <a:pPr lvl="1"/>
            <a:r>
              <a:rPr lang="en-US" sz="3600" dirty="0"/>
              <a:t>Cooking recipes</a:t>
            </a:r>
          </a:p>
          <a:p>
            <a:pPr lvl="1"/>
            <a:r>
              <a:rPr lang="en-US" sz="3600" dirty="0"/>
              <a:t>Travel directions</a:t>
            </a:r>
          </a:p>
          <a:p>
            <a:pPr lvl="1"/>
            <a:r>
              <a:rPr lang="en-US" sz="3600" dirty="0"/>
              <a:t>Assembly instructions</a:t>
            </a:r>
          </a:p>
          <a:p>
            <a:pPr lvl="0"/>
            <a:r>
              <a:rPr lang="en-US" sz="3600" dirty="0"/>
              <a:t>Physical – What you see is what you get</a:t>
            </a:r>
          </a:p>
          <a:p>
            <a:pPr lvl="2"/>
            <a:r>
              <a:rPr lang="en-US" sz="3600" dirty="0"/>
              <a:t>Construction - Roads, Buildings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107DD-4F35-4D41-B730-2735A5F00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512493-082E-4B70-A398-E8B6E88243C8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7F100-A65B-4BCF-89FD-446E49F5A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FB75885-8BF5-4AD8-92A5-1EC3FF989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</p:spTree>
    <p:extLst>
      <p:ext uri="{BB962C8B-B14F-4D97-AF65-F5344CB8AC3E}">
        <p14:creationId xmlns:p14="http://schemas.microsoft.com/office/powerpoint/2010/main" val="2762212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32F5B-24B3-49EA-B8F3-8979F8D7E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 Computer Programming,</a:t>
            </a:r>
            <a:br>
              <a:rPr lang="en-US" dirty="0"/>
            </a:br>
            <a:r>
              <a:rPr lang="en-US" dirty="0"/>
              <a:t> They do / have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6FAD7-6B06-4A90-832C-C317A0E24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/>
            <a:r>
              <a:rPr lang="en-US" sz="3600" dirty="0"/>
              <a:t>Build once – use many times</a:t>
            </a:r>
          </a:p>
          <a:p>
            <a:pPr lvl="2"/>
            <a:r>
              <a:rPr lang="en-US" sz="3600" dirty="0"/>
              <a:t>Builder and user(s) often different</a:t>
            </a:r>
          </a:p>
          <a:p>
            <a:pPr lvl="2"/>
            <a:r>
              <a:rPr lang="en-US" sz="3600" dirty="0"/>
              <a:t>Building errors show up many times</a:t>
            </a:r>
          </a:p>
          <a:p>
            <a:pPr lvl="2"/>
            <a:r>
              <a:rPr lang="en-US" sz="3600" dirty="0"/>
              <a:t>Mistakes don't always show up immediately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BB44D-8BF8-4185-A4D5-AE23D307B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485BB1-275F-43A5-9BF7-CE6360AB5A88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B5CA5-5E10-4C92-BCC8-27C351CC4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E90A41A-BD5C-4158-B7BD-624701C82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</p:spTree>
    <p:extLst>
      <p:ext uri="{BB962C8B-B14F-4D97-AF65-F5344CB8AC3E}">
        <p14:creationId xmlns:p14="http://schemas.microsoft.com/office/powerpoint/2010/main" val="289965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83314-4115-4B31-B8BF-2535E6D3D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Unlike Computer Programming,</a:t>
            </a:r>
            <a:br>
              <a:rPr lang="en-US" dirty="0"/>
            </a:br>
            <a:r>
              <a:rPr lang="en-US" dirty="0"/>
              <a:t>they have / 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3D425-4B72-4FE5-B557-8FA06461F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r>
              <a:rPr lang="en-US" sz="3600" dirty="0"/>
              <a:t>Physical materials</a:t>
            </a:r>
          </a:p>
          <a:p>
            <a:pPr lvl="2"/>
            <a:r>
              <a:rPr lang="en-US" sz="3600" dirty="0"/>
              <a:t>Hard to copy</a:t>
            </a:r>
          </a:p>
          <a:p>
            <a:pPr lvl="2"/>
            <a:r>
              <a:rPr lang="en-US" sz="3600" dirty="0"/>
              <a:t>Hard to manipulate</a:t>
            </a:r>
          </a:p>
          <a:p>
            <a:pPr lvl="2"/>
            <a:r>
              <a:rPr lang="en-US" sz="3600" dirty="0"/>
              <a:t>Easy to see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559C9-4B24-4529-9EFD-E2B01B0CC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B5B599-A674-4519-B052-D1B8BD372E2B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531CE-A796-4B44-A553-EBBCDE66F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EC8B15F-F985-4740-B3CE-18744FECA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</p:spTree>
    <p:extLst>
      <p:ext uri="{BB962C8B-B14F-4D97-AF65-F5344CB8AC3E}">
        <p14:creationId xmlns:p14="http://schemas.microsoft.com/office/powerpoint/2010/main" val="3682890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12256-9C7A-41DB-AA96-B0B30A32B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What's Easy in Programming – </a:t>
            </a:r>
            <a:r>
              <a:rPr lang="en-US" sz="2800" dirty="0"/>
              <a:t>No so physical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53B90-88CF-4187-9FA4-465B51080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/>
            <a:r>
              <a:rPr lang="en-US" sz="3600" dirty="0"/>
              <a:t>Creation / copying / moving is a snap</a:t>
            </a:r>
          </a:p>
          <a:p>
            <a:pPr lvl="1"/>
            <a:r>
              <a:rPr lang="en-US" sz="3600" dirty="0"/>
              <a:t>Programs don't wear out</a:t>
            </a:r>
          </a:p>
          <a:p>
            <a:pPr lvl="1"/>
            <a:r>
              <a:rPr lang="en-US" sz="3600" dirty="0"/>
              <a:t>Change easy…</a:t>
            </a:r>
          </a:p>
          <a:p>
            <a:pPr lvl="1"/>
            <a:r>
              <a:rPr lang="en-US" sz="3600" dirty="0"/>
              <a:t>Work on new, while using old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12721-B3FF-47A3-AC7A-E41E139DF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4211EE-8515-4F77-8770-45D4239539AF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E86CE-C8D8-489F-9968-671FF8002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44E9E0D-F7FC-4C7E-9C9E-E5FAD922C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</p:spTree>
    <p:extLst>
      <p:ext uri="{BB962C8B-B14F-4D97-AF65-F5344CB8AC3E}">
        <p14:creationId xmlns:p14="http://schemas.microsoft.com/office/powerpoint/2010/main" val="2125443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4A5E0-0A11-4B04-AE87-BCC201BEF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What's Not So Easy – </a:t>
            </a:r>
            <a:r>
              <a:rPr lang="en-US" sz="2800" dirty="0"/>
              <a:t>Not so physical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FB20D-DC17-4635-B45F-E3F0F86C6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4000" dirty="0"/>
              <a:t>Can't "see" it</a:t>
            </a:r>
          </a:p>
          <a:p>
            <a:pPr lvl="0"/>
            <a:r>
              <a:rPr lang="en-US" sz="4000" dirty="0"/>
              <a:t>Everything connected</a:t>
            </a:r>
          </a:p>
          <a:p>
            <a:pPr lvl="1"/>
            <a:r>
              <a:rPr lang="en-US" sz="4000" dirty="0"/>
              <a:t>unexpected consequences</a:t>
            </a:r>
          </a:p>
          <a:p>
            <a:r>
              <a:rPr lang="en-US" sz="4000" dirty="0"/>
              <a:t>Not easy to tell how close to done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3BDC9-0814-4AA6-9895-50902B68B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F3720D-B69F-4A94-83B7-6D73A5F7EAD8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09FD-6FF8-43F9-9B99-DE4E9ED65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FEC4169-6935-4699-B53D-ED94C7AD7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</p:spTree>
    <p:extLst>
      <p:ext uri="{BB962C8B-B14F-4D97-AF65-F5344CB8AC3E}">
        <p14:creationId xmlns:p14="http://schemas.microsoft.com/office/powerpoint/2010/main" val="1463216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54292-3700-41F6-9D5E-0E24D101E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Tools and Rules -</a:t>
            </a:r>
            <a:br>
              <a:rPr lang="en-US" dirty="0"/>
            </a:br>
            <a:r>
              <a:rPr lang="en-US" dirty="0"/>
              <a:t>More Python Details…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3A2E9-F92A-4138-AB56-E45FDFDB9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4600" dirty="0"/>
              <a:t>What is in Python – </a:t>
            </a:r>
            <a:r>
              <a:rPr lang="en-US" sz="2400" dirty="0"/>
              <a:t>Programming Language</a:t>
            </a:r>
          </a:p>
          <a:p>
            <a:pPr lvl="1"/>
            <a:r>
              <a:rPr lang="en-US" sz="3400" dirty="0"/>
              <a:t>Comments</a:t>
            </a:r>
          </a:p>
          <a:p>
            <a:pPr lvl="1"/>
            <a:r>
              <a:rPr lang="en-US" sz="3400" dirty="0"/>
              <a:t>Values – Integer, Float, String</a:t>
            </a:r>
          </a:p>
          <a:p>
            <a:pPr lvl="1"/>
            <a:r>
              <a:rPr lang="en-US" sz="3400" dirty="0"/>
              <a:t>Variables – contain values</a:t>
            </a:r>
          </a:p>
          <a:p>
            <a:pPr lvl="1"/>
            <a:r>
              <a:rPr lang="en-US" sz="3400" dirty="0"/>
              <a:t>Computation / Arithmetic</a:t>
            </a:r>
          </a:p>
          <a:p>
            <a:pPr lvl="1"/>
            <a:r>
              <a:rPr lang="en-US" sz="3400" dirty="0"/>
              <a:t>More Tools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316E3-5F9A-45A5-8DD7-027BC02B2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42634-8437-434B-AC71-7CC2B3CC7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54AF8-0519-4022-B91A-AE6F92C77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3436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54292-3700-41F6-9D5E-0E24D101E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Python – continued - Tools…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3A2E9-F92A-4138-AB56-E45FDFDB9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Decisions</a:t>
            </a:r>
            <a:r>
              <a:rPr lang="en-US" sz="3200" dirty="0"/>
              <a:t> – </a:t>
            </a:r>
            <a:r>
              <a:rPr lang="en-US" sz="3200" b="1" dirty="0"/>
              <a:t>if</a:t>
            </a:r>
            <a:r>
              <a:rPr lang="en-US" sz="3200" dirty="0"/>
              <a:t>, </a:t>
            </a:r>
            <a:r>
              <a:rPr lang="en-US" sz="3200" b="1" dirty="0"/>
              <a:t>else</a:t>
            </a:r>
          </a:p>
          <a:p>
            <a:r>
              <a:rPr lang="en-US" sz="3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Looping</a:t>
            </a:r>
            <a:r>
              <a:rPr lang="en-US" sz="3200" dirty="0"/>
              <a:t> – </a:t>
            </a:r>
            <a:r>
              <a:rPr lang="en-US" sz="3200" b="1" dirty="0"/>
              <a:t>while</a:t>
            </a:r>
            <a:r>
              <a:rPr lang="en-US" sz="3200" dirty="0"/>
              <a:t>, </a:t>
            </a:r>
            <a:r>
              <a:rPr lang="en-US" sz="3200" b="1" dirty="0"/>
              <a:t>for</a:t>
            </a:r>
            <a:r>
              <a:rPr lang="en-US" sz="3200" dirty="0"/>
              <a:t>, </a:t>
            </a:r>
            <a:r>
              <a:rPr lang="en-US" sz="2400" b="1" dirty="0"/>
              <a:t>break</a:t>
            </a:r>
            <a:r>
              <a:rPr lang="en-US" sz="2400" dirty="0"/>
              <a:t>, </a:t>
            </a:r>
            <a:r>
              <a:rPr lang="en-US" sz="2400" b="1" dirty="0"/>
              <a:t>continue</a:t>
            </a:r>
          </a:p>
          <a:p>
            <a:r>
              <a:rPr lang="en-US" sz="3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Grouping</a:t>
            </a:r>
            <a:r>
              <a:rPr lang="en-US" sz="3200" dirty="0"/>
              <a:t> – indentation, functions, classes</a:t>
            </a:r>
          </a:p>
          <a:p>
            <a:r>
              <a:rPr lang="en-US" sz="3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Functions</a:t>
            </a:r>
            <a:r>
              <a:rPr lang="en-US" sz="3200" dirty="0"/>
              <a:t> – parameters, returning</a:t>
            </a:r>
          </a:p>
          <a:p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Data Structures </a:t>
            </a:r>
            <a:r>
              <a:rPr lang="en-US" sz="2800" dirty="0"/>
              <a:t>– </a:t>
            </a:r>
            <a:r>
              <a:rPr lang="en-US" sz="2800" b="1" dirty="0"/>
              <a:t>lists</a:t>
            </a:r>
            <a:r>
              <a:rPr lang="en-US" sz="2800" dirty="0"/>
              <a:t>, dictionaries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316E3-5F9A-45A5-8DD7-027BC02B2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42634-8437-434B-AC71-7CC2B3CC7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54AF8-0519-4022-B91A-AE6F92C77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0036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749E-FA87-88B3-4575-82CEF3872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Tools -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ABDAA-B662-EBE5-9A16-BD58D5CBC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0000"/>
                </a:solidFill>
              </a:rPr>
              <a:t>if</a:t>
            </a:r>
            <a:r>
              <a:rPr lang="en-US" sz="3600" dirty="0"/>
              <a:t> </a:t>
            </a:r>
            <a:r>
              <a:rPr lang="en-US" sz="3600" i="1" dirty="0"/>
              <a:t>condition</a:t>
            </a:r>
            <a:r>
              <a:rPr lang="en-US" sz="3600" dirty="0"/>
              <a:t> </a:t>
            </a:r>
            <a:r>
              <a:rPr lang="en-US" sz="3600" b="1" dirty="0">
                <a:solidFill>
                  <a:srgbClr val="FF0000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3600" dirty="0"/>
              <a:t>    </a:t>
            </a:r>
            <a:r>
              <a:rPr lang="en-US" sz="3600" i="1" dirty="0"/>
              <a:t>body…	# Done if condition is True</a:t>
            </a:r>
          </a:p>
          <a:p>
            <a:pPr marL="0" indent="0">
              <a:buNone/>
            </a:pPr>
            <a:r>
              <a:rPr lang="en-US" sz="3600" b="1" dirty="0">
                <a:solidFill>
                  <a:srgbClr val="FF0000"/>
                </a:solidFill>
              </a:rPr>
              <a:t>else</a:t>
            </a:r>
            <a:r>
              <a:rPr lang="en-US" sz="3600" dirty="0">
                <a:solidFill>
                  <a:srgbClr val="FF0000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3600" i="1" dirty="0"/>
              <a:t>    body…   # Done if condition is False</a:t>
            </a:r>
          </a:p>
          <a:p>
            <a:pPr marL="0" indent="0">
              <a:buNone/>
            </a:pPr>
            <a:r>
              <a:rPr lang="en-US" sz="2800" dirty="0"/>
              <a:t>if a &gt; b:</a:t>
            </a:r>
          </a:p>
          <a:p>
            <a:pPr marL="0" indent="0">
              <a:buNone/>
            </a:pPr>
            <a:r>
              <a:rPr lang="en-US" sz="2800" dirty="0"/>
              <a:t>    print("a is greater than b")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A6E4A-7B68-019E-88F5-DB6795F0A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3FBA7-0EA3-46CF-3130-134C69495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9753F-CC1B-08DB-3F22-879B1A80B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605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749E-FA87-88B3-4575-82CEF3872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Tools - Looping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ABDAA-B662-EBE5-9A16-BD58D5CBC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0000"/>
                </a:solidFill>
              </a:rPr>
              <a:t>while</a:t>
            </a:r>
            <a:r>
              <a:rPr lang="en-US" sz="3600" dirty="0"/>
              <a:t> </a:t>
            </a:r>
            <a:r>
              <a:rPr lang="en-US" sz="3600" i="1" dirty="0"/>
              <a:t>condition</a:t>
            </a:r>
            <a:r>
              <a:rPr lang="en-US" sz="3600" dirty="0"/>
              <a:t> </a:t>
            </a:r>
            <a:r>
              <a:rPr lang="en-US" sz="3600" b="1" dirty="0">
                <a:solidFill>
                  <a:srgbClr val="FF0000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3600" dirty="0"/>
              <a:t>    </a:t>
            </a:r>
            <a:r>
              <a:rPr lang="en-US" sz="3600" i="1" dirty="0"/>
              <a:t>body…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i = 1</a:t>
            </a:r>
          </a:p>
          <a:p>
            <a:pPr marL="0" indent="0">
              <a:buNone/>
            </a:pPr>
            <a:r>
              <a:rPr lang="en-US" sz="2800" dirty="0"/>
              <a:t>while i &lt;= 10:</a:t>
            </a:r>
          </a:p>
          <a:p>
            <a:pPr marL="0" indent="0">
              <a:buNone/>
            </a:pPr>
            <a:r>
              <a:rPr lang="en-US" sz="2800" dirty="0"/>
              <a:t>    print("i:", i)</a:t>
            </a:r>
          </a:p>
          <a:p>
            <a:pPr marL="0" indent="0">
              <a:buNone/>
            </a:pPr>
            <a:r>
              <a:rPr lang="en-US" sz="2800" dirty="0"/>
              <a:t>    i = i + 1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A6E4A-7B68-019E-88F5-DB6795F0A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3FBA7-0EA3-46CF-3130-134C69495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9753F-CC1B-08DB-3F22-879B1A80B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584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749E-FA87-88B3-4575-82CEF3872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Tools - Looping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ABDAA-B662-EBE5-9A16-BD58D5CBC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534" y="2160589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0000"/>
                </a:solidFill>
              </a:rPr>
              <a:t>for</a:t>
            </a:r>
            <a:r>
              <a:rPr lang="en-US" sz="3600" dirty="0"/>
              <a:t> </a:t>
            </a:r>
            <a:r>
              <a:rPr lang="en-US" sz="3600" i="1" dirty="0"/>
              <a:t>var </a:t>
            </a:r>
            <a:r>
              <a:rPr lang="en-US" sz="3600" dirty="0">
                <a:solidFill>
                  <a:srgbClr val="FF0000"/>
                </a:solidFill>
              </a:rPr>
              <a:t>in</a:t>
            </a:r>
            <a:r>
              <a:rPr lang="en-US" sz="3600" i="1" dirty="0"/>
              <a:t> list</a:t>
            </a:r>
            <a:r>
              <a:rPr lang="en-US" sz="3600" dirty="0"/>
              <a:t> </a:t>
            </a:r>
            <a:r>
              <a:rPr lang="en-US" sz="3600" b="1" dirty="0">
                <a:solidFill>
                  <a:srgbClr val="FF0000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3600" dirty="0"/>
              <a:t>    </a:t>
            </a:r>
            <a:r>
              <a:rPr lang="en-US" sz="3600" i="1" dirty="0"/>
              <a:t>body…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 err="1"/>
              <a:t>lst</a:t>
            </a:r>
            <a:r>
              <a:rPr lang="en-US" sz="2800" dirty="0"/>
              <a:t> = [2,4,6]</a:t>
            </a:r>
          </a:p>
          <a:p>
            <a:pPr marL="0" indent="0">
              <a:buNone/>
            </a:pPr>
            <a:r>
              <a:rPr lang="en-US" sz="2800" dirty="0"/>
              <a:t>for v in </a:t>
            </a:r>
            <a:r>
              <a:rPr lang="en-US" sz="2800" dirty="0" err="1"/>
              <a:t>lst</a:t>
            </a:r>
            <a:r>
              <a:rPr lang="en-US" sz="2800" dirty="0"/>
              <a:t>: </a:t>
            </a:r>
          </a:p>
          <a:p>
            <a:pPr marL="0" indent="0">
              <a:buNone/>
            </a:pPr>
            <a:r>
              <a:rPr lang="en-US" sz="2800" dirty="0"/>
              <a:t>    print(“v:", v)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A6E4A-7B68-019E-88F5-DB6795F0A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3FBA7-0EA3-46CF-3130-134C69495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9753F-CC1B-08DB-3F22-879B1A80B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486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A3B7D-9381-43ED-A32C-2277435F2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33450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Lists</a:t>
            </a:r>
            <a:r>
              <a:rPr lang="en-US" sz="2200" b="1" dirty="0"/>
              <a:t> </a:t>
            </a:r>
            <a:r>
              <a:rPr lang="en-US" sz="4000" b="1" dirty="0"/>
              <a:t>-</a:t>
            </a:r>
            <a:r>
              <a:rPr lang="en-US" sz="4000" dirty="0"/>
              <a:t> Ordered group</a:t>
            </a:r>
            <a:br>
              <a:rPr lang="en-US" sz="2200" dirty="0"/>
            </a:br>
            <a:r>
              <a:rPr lang="en-US" sz="2200" dirty="0"/>
              <a:t>			lists/colors.py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776-9422-4365-A33A-3CCD46A05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064" y="1488613"/>
            <a:ext cx="8596668" cy="4552749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list1 = [1,2]</a:t>
            </a:r>
          </a:p>
          <a:p>
            <a:pPr marL="457200" lvl="1" indent="0">
              <a:buNone/>
            </a:pPr>
            <a:r>
              <a:rPr lang="en-US" sz="3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(list1)</a:t>
            </a:r>
          </a:p>
          <a:p>
            <a:pPr marL="457200" lvl="1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list1.append(4)</a:t>
            </a:r>
          </a:p>
          <a:p>
            <a:pPr marL="457200" lvl="1" indent="0">
              <a:buNone/>
            </a:pPr>
            <a:r>
              <a:rPr lang="en-US" sz="3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(list1)</a:t>
            </a:r>
          </a:p>
          <a:p>
            <a:pPr marL="457200" lvl="1" indent="0">
              <a:buNone/>
            </a:pPr>
            <a:r>
              <a:rPr lang="en-US" sz="36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mem </a:t>
            </a:r>
            <a:r>
              <a:rPr lang="en-US" sz="36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list1:</a:t>
            </a:r>
          </a:p>
          <a:p>
            <a:pPr marL="457200" lvl="1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en-US" sz="3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(mem)</a:t>
            </a:r>
          </a:p>
          <a:p>
            <a:pPr marL="457200" lvl="1" indent="0">
              <a:buNone/>
            </a:pPr>
            <a:endParaRPr lang="en-US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34057-1D33-411A-BE2E-189ADCD4D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7C6D0-642C-4A40-B0F1-13ED56048173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D1D6018-04FB-4D4B-8481-8BDBCB82B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CCAD4-12C8-4A68-9A85-D8DAB02AC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195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A3B7D-9381-43ED-A32C-2277435F2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33450"/>
          </a:xfrm>
        </p:spPr>
        <p:txBody>
          <a:bodyPr>
            <a:normAutofit/>
          </a:bodyPr>
          <a:lstStyle/>
          <a:p>
            <a:r>
              <a:rPr lang="en-US" sz="4000" b="1" dirty="0"/>
              <a:t>range() – sequence – </a:t>
            </a:r>
            <a:r>
              <a:rPr lang="en-US" sz="2400" b="1" dirty="0"/>
              <a:t>like a list of numbers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776-9422-4365-A33A-3CCD46A05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063" y="1488613"/>
            <a:ext cx="8873673" cy="4552749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range(start, end) – start,…,end-1</a:t>
            </a:r>
          </a:p>
          <a:p>
            <a:pPr marL="457200" lvl="1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range(end) – 0,…,n-1</a:t>
            </a:r>
          </a:p>
          <a:p>
            <a:pPr marL="457200" lvl="1" indent="0">
              <a:buNone/>
            </a:pPr>
            <a:r>
              <a:rPr lang="en-US" sz="36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n </a:t>
            </a:r>
            <a:r>
              <a:rPr lang="en-US" sz="36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range(1,10):	# 1-9</a:t>
            </a:r>
          </a:p>
          <a:p>
            <a:pPr marL="457200" lvl="1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en-US" sz="3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("n:", n)</a:t>
            </a:r>
          </a:p>
          <a:p>
            <a:pPr marL="457200" lvl="1" indent="0">
              <a:buNone/>
            </a:pPr>
            <a:r>
              <a:rPr lang="en-US" sz="36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n </a:t>
            </a:r>
            <a:r>
              <a:rPr lang="en-US" sz="36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range(10):	# 0-9</a:t>
            </a:r>
          </a:p>
          <a:p>
            <a:pPr marL="457200" lvl="1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en-US" sz="3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("n:", n)</a:t>
            </a:r>
          </a:p>
          <a:p>
            <a:pPr marL="457200" lvl="1" indent="0">
              <a:buNone/>
            </a:pPr>
            <a:endParaRPr lang="en-US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34057-1D33-411A-BE2E-189ADCD4D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7C6D0-642C-4A40-B0F1-13ED56048173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D1D6018-04FB-4D4B-8481-8BDBCB82B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CCAD4-12C8-4A68-9A85-D8DAB02AC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8755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ABD68-FD2C-468B-9396-714B57565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/ Range Samples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42362-02C1-40C0-B49E-D98B3E726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lists append, range</a:t>
            </a:r>
          </a:p>
          <a:p>
            <a:r>
              <a:rPr lang="en-US" sz="2800" dirty="0"/>
              <a:t>    samples/</a:t>
            </a:r>
          </a:p>
          <a:p>
            <a:r>
              <a:rPr lang="en-US" sz="3600" dirty="0"/>
              <a:t>        lists1.py</a:t>
            </a:r>
          </a:p>
          <a:p>
            <a:r>
              <a:rPr lang="en-US" sz="3600" dirty="0"/>
              <a:t>        list_range.py</a:t>
            </a:r>
          </a:p>
          <a:p>
            <a:pPr lvl="4"/>
            <a:r>
              <a:rPr lang="en-US" sz="3600" dirty="0"/>
              <a:t>list_range_limit.py</a:t>
            </a:r>
          </a:p>
          <a:p>
            <a:r>
              <a:rPr lang="en-US" sz="3600" dirty="0"/>
              <a:t>        spokes_list.py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B1EA4-FBE8-4175-978D-D35F81D78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44595-80BE-4002-9BCB-4D24B0CB0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37330-A3A9-4C6F-A560-2166234F4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686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08A36-8500-454B-8F4B-063D0E415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– Divide and Conquer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85528-BF84-48C0-B8B7-1154D8241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US" sz="3600" dirty="0"/>
              <a:t>Group action / plan – e.g., chapters</a:t>
            </a:r>
          </a:p>
          <a:p>
            <a:pPr lvl="1"/>
            <a:r>
              <a:rPr lang="en-US" sz="3600" dirty="0"/>
              <a:t>Each part placed in a function</a:t>
            </a:r>
          </a:p>
          <a:p>
            <a:pPr lvl="1"/>
            <a:r>
              <a:rPr lang="en-US" sz="3600" dirty="0"/>
              <a:t>Benefits:</a:t>
            </a:r>
          </a:p>
          <a:p>
            <a:pPr lvl="2"/>
            <a:r>
              <a:rPr lang="en-US" sz="3400" dirty="0"/>
              <a:t>Reduce duplicated work</a:t>
            </a:r>
          </a:p>
          <a:p>
            <a:pPr lvl="2"/>
            <a:r>
              <a:rPr lang="en-US" sz="3400" dirty="0"/>
              <a:t>Hide the particulars</a:t>
            </a:r>
          </a:p>
          <a:p>
            <a:pPr lvl="2"/>
            <a:r>
              <a:rPr lang="en-US" sz="3400" dirty="0"/>
              <a:t>Delay detailed work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47D2D-BD26-4EED-9283-3A6B037FE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A09EC-7A30-4429-96A6-A81417D4D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5C35D-C6D6-4A90-B770-F02DC8612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9468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08A36-8500-454B-8F4B-063D0E415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– Train Model - Calling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85528-BF84-48C0-B8B7-1154D8241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US" sz="4000" dirty="0"/>
              <a:t>Choose train(</a:t>
            </a:r>
            <a:r>
              <a:rPr lang="en-US" sz="3200" dirty="0"/>
              <a:t>function</a:t>
            </a:r>
            <a:r>
              <a:rPr lang="en-US" sz="4000" dirty="0"/>
              <a:t>) by name</a:t>
            </a:r>
          </a:p>
          <a:p>
            <a:pPr lvl="1"/>
            <a:r>
              <a:rPr lang="en-US" sz="4000" dirty="0"/>
              <a:t>Place values(</a:t>
            </a:r>
            <a:r>
              <a:rPr lang="en-US" sz="3200" dirty="0"/>
              <a:t>parameters</a:t>
            </a:r>
            <a:r>
              <a:rPr lang="en-US" sz="4000" dirty="0"/>
              <a:t>) in train cars</a:t>
            </a:r>
          </a:p>
          <a:p>
            <a:pPr lvl="1"/>
            <a:r>
              <a:rPr lang="en-US" sz="4000" dirty="0"/>
              <a:t>Train goes to work place</a:t>
            </a:r>
          </a:p>
          <a:p>
            <a:pPr lvl="1"/>
            <a:r>
              <a:rPr lang="en-US" sz="4000" dirty="0"/>
              <a:t>Get result – train returns(</a:t>
            </a:r>
            <a:r>
              <a:rPr lang="en-US" sz="3200" dirty="0"/>
              <a:t>assign function</a:t>
            </a:r>
            <a:r>
              <a:rPr lang="en-US" sz="4000" dirty="0"/>
              <a:t>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47D2D-BD26-4EED-9283-3A6B037FE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A09EC-7A30-4429-96A6-A81417D4D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5C35D-C6D6-4A90-B770-F02DC8612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8394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08A36-8500-454B-8F4B-063D0E415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– Train Model – Function Body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85528-BF84-48C0-B8B7-1154D8241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4000" dirty="0"/>
              <a:t>Gets the values from the cars</a:t>
            </a:r>
          </a:p>
          <a:p>
            <a:pPr lvl="1"/>
            <a:r>
              <a:rPr lang="en-US" sz="4000" dirty="0"/>
              <a:t>Does calculation / operation</a:t>
            </a:r>
          </a:p>
          <a:p>
            <a:pPr lvl="1"/>
            <a:r>
              <a:rPr lang="en-US" sz="4000" dirty="0"/>
              <a:t>Returns result, if any</a:t>
            </a:r>
          </a:p>
          <a:p>
            <a:pPr lvl="1"/>
            <a:endParaRPr lang="en-US" sz="4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47D2D-BD26-4EED-9283-3A6B037FE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A09EC-7A30-4429-96A6-A81417D4D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5C35D-C6D6-4A90-B770-F02DC8612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02647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08A36-8500-454B-8F4B-063D0E415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–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85528-BF84-48C0-B8B7-1154D8241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US" sz="3900" dirty="0"/>
              <a:t>Called - by name, e.g., print()</a:t>
            </a:r>
          </a:p>
          <a:p>
            <a:pPr lvl="1"/>
            <a:r>
              <a:rPr lang="en-US" sz="3900" dirty="0"/>
              <a:t>Input Data - comma-separated list of values – e.g. print("one:",1,2,3)</a:t>
            </a:r>
          </a:p>
          <a:p>
            <a:pPr lvl="1"/>
            <a:r>
              <a:rPr lang="en-US" sz="3900" dirty="0"/>
              <a:t>Result - replaces call</a:t>
            </a:r>
          </a:p>
          <a:p>
            <a:pPr marL="857250" lvl="2" indent="0">
              <a:buNone/>
            </a:pPr>
            <a:r>
              <a:rPr lang="en-US" sz="3200" dirty="0"/>
              <a:t>top = max(1,2,3)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47D2D-BD26-4EED-9283-3A6B037FE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A09EC-7A30-4429-96A6-A81417D4D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5C35D-C6D6-4A90-B770-F02DC8612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06984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08A36-8500-454B-8F4B-063D0E415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(you write) – Defined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85528-BF84-48C0-B8B7-1154D8241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sz="14400" dirty="0"/>
              <a:t>Definition – Formal plan description</a:t>
            </a:r>
          </a:p>
          <a:p>
            <a:pPr lvl="2"/>
            <a:r>
              <a:rPr lang="en-US" sz="14000" dirty="0">
                <a:solidFill>
                  <a:schemeClr val="accent2"/>
                </a:solidFill>
              </a:rPr>
              <a:t>Name</a:t>
            </a:r>
            <a:r>
              <a:rPr lang="en-US" sz="14000" dirty="0"/>
              <a:t> – same style/restrictions as variable name</a:t>
            </a:r>
          </a:p>
          <a:p>
            <a:pPr lvl="2"/>
            <a:r>
              <a:rPr lang="en-US" sz="14200" dirty="0">
                <a:solidFill>
                  <a:schemeClr val="accent2"/>
                </a:solidFill>
              </a:rPr>
              <a:t>Parameters</a:t>
            </a:r>
            <a:r>
              <a:rPr lang="en-US" sz="14200" dirty="0"/>
              <a:t> – data passed to the function</a:t>
            </a:r>
          </a:p>
          <a:p>
            <a:pPr lvl="2"/>
            <a:r>
              <a:rPr lang="en-US" sz="14200" dirty="0">
                <a:solidFill>
                  <a:schemeClr val="accent2"/>
                </a:solidFill>
              </a:rPr>
              <a:t>Body</a:t>
            </a:r>
            <a:r>
              <a:rPr lang="en-US" sz="14200" dirty="0"/>
              <a:t> – What is done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47D2D-BD26-4EED-9283-3A6B037FE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A09EC-7A30-4429-96A6-A81417D4D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5C35D-C6D6-4A90-B770-F02DC8612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97829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08A36-8500-454B-8F4B-063D0E415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–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85528-BF84-48C0-B8B7-1154D8241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sz="4000" dirty="0"/>
              <a:t>In Call – list of values to use</a:t>
            </a:r>
          </a:p>
          <a:p>
            <a:pPr lvl="1"/>
            <a:r>
              <a:rPr lang="en-US" sz="4000" dirty="0"/>
              <a:t>In Body – List of named values</a:t>
            </a:r>
          </a:p>
          <a:p>
            <a:pPr lvl="1"/>
            <a:r>
              <a:rPr lang="en-US" sz="4000" dirty="0"/>
              <a:t>Parenthesized, comma separated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47D2D-BD26-4EED-9283-3A6B037FE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A09EC-7A30-4429-96A6-A81417D4D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5C35D-C6D6-4A90-B770-F02DC8612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30139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08A36-8500-454B-8F4B-063D0E415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88504"/>
          </a:xfrm>
        </p:spPr>
        <p:txBody>
          <a:bodyPr/>
          <a:lstStyle/>
          <a:p>
            <a:r>
              <a:rPr lang="en-US" dirty="0"/>
              <a:t>Functions (you write) –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85528-BF84-48C0-B8B7-1154D8241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98105"/>
            <a:ext cx="8596668" cy="4643258"/>
          </a:xfrm>
        </p:spPr>
        <p:txBody>
          <a:bodyPr>
            <a:normAutofit fontScale="25000" lnSpcReduction="20000"/>
          </a:bodyPr>
          <a:lstStyle/>
          <a:p>
            <a:pPr marL="457200" lvl="1" indent="0">
              <a:buNone/>
            </a:pPr>
            <a:endParaRPr lang="en-US" dirty="0"/>
          </a:p>
          <a:p>
            <a:pPr marL="0" indent="0" hangingPunct="0">
              <a:buNone/>
            </a:pPr>
            <a:r>
              <a:rPr lang="en-US" sz="14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Definition:</a:t>
            </a:r>
          </a:p>
          <a:p>
            <a:pPr marL="0" indent="0" hangingPunct="0">
              <a:buNone/>
            </a:pPr>
            <a:r>
              <a:rPr lang="en-US" sz="1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14400" dirty="0">
                <a:latin typeface="Courier New" panose="02070309020205020404" pitchFamily="49" charset="0"/>
                <a:cs typeface="Courier New" panose="02070309020205020404" pitchFamily="49" charset="0"/>
              </a:rPr>
              <a:t> add2</a:t>
            </a:r>
            <a:r>
              <a:rPr lang="en-US" sz="1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400" dirty="0">
                <a:latin typeface="Courier New" panose="02070309020205020404" pitchFamily="49" charset="0"/>
                <a:cs typeface="Courier New" panose="02070309020205020404" pitchFamily="49" charset="0"/>
              </a:rPr>
              <a:t>value1, value2</a:t>
            </a:r>
            <a:r>
              <a:rPr lang="en-US" sz="1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endParaRPr lang="en-US" sz="14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hangingPunct="0">
              <a:buNone/>
            </a:pPr>
            <a:r>
              <a:rPr lang="en-US" sz="14400" dirty="0">
                <a:latin typeface="Courier New" panose="02070309020205020404" pitchFamily="49" charset="0"/>
                <a:cs typeface="Courier New" panose="02070309020205020404" pitchFamily="49" charset="0"/>
              </a:rPr>
              <a:t>	sum = value1 + value2</a:t>
            </a:r>
          </a:p>
          <a:p>
            <a:pPr marL="0" indent="0" hangingPunct="0">
              <a:buNone/>
            </a:pPr>
            <a:r>
              <a:rPr lang="en-US" sz="14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4400" dirty="0">
                <a:latin typeface="Courier New" panose="02070309020205020404" pitchFamily="49" charset="0"/>
                <a:cs typeface="Courier New" panose="02070309020205020404" pitchFamily="49" charset="0"/>
              </a:rPr>
              <a:t> sum</a:t>
            </a:r>
          </a:p>
          <a:p>
            <a:pPr marL="0" indent="0">
              <a:buNone/>
            </a:pPr>
            <a:endParaRPr lang="en-US" sz="14400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Use:</a:t>
            </a:r>
          </a:p>
          <a:p>
            <a:pPr marL="0" indent="0">
              <a:buNone/>
            </a:pPr>
            <a:r>
              <a:rPr lang="en-US" sz="14400" dirty="0">
                <a:latin typeface="Courier New" panose="02070309020205020404" pitchFamily="49" charset="0"/>
                <a:cs typeface="Courier New" panose="02070309020205020404" pitchFamily="49" charset="0"/>
              </a:rPr>
              <a:t>sum1 = add2(1,2)	# </a:t>
            </a:r>
            <a:r>
              <a:rPr lang="en-US" sz="12800" dirty="0">
                <a:latin typeface="Courier New" panose="02070309020205020404" pitchFamily="49" charset="0"/>
                <a:cs typeface="Courier New" panose="02070309020205020404" pitchFamily="49" charset="0"/>
              </a:rPr>
              <a:t>sum1 gets 1+2</a:t>
            </a:r>
          </a:p>
          <a:p>
            <a:pPr marL="0" indent="0">
              <a:buNone/>
            </a:pPr>
            <a:r>
              <a:rPr lang="en-US" sz="14400" dirty="0">
                <a:latin typeface="Courier New" panose="02070309020205020404" pitchFamily="49" charset="0"/>
                <a:cs typeface="Courier New" panose="02070309020205020404" pitchFamily="49" charset="0"/>
              </a:rPr>
              <a:t>sum2 = add2(3,4)	# </a:t>
            </a:r>
            <a:r>
              <a:rPr lang="en-US" sz="12800" dirty="0">
                <a:latin typeface="Courier New" panose="02070309020205020404" pitchFamily="49" charset="0"/>
                <a:cs typeface="Courier New" panose="02070309020205020404" pitchFamily="49" charset="0"/>
              </a:rPr>
              <a:t>sum2 gets 3+4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47D2D-BD26-4EED-9283-3A6B037FE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A09EC-7A30-4429-96A6-A81417D4D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5C35D-C6D6-4A90-B770-F02DC8612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18372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14F55-BF05-2BB7-18E8-F4F134D1B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graphic example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24372-204D-1D16-3338-D9ED9557F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534" y="2160589"/>
            <a:ext cx="8596668" cy="388077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exercises/functions/figures/my_square.py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presentation/ Class_2…/samples/line_function.py</a:t>
            </a:r>
          </a:p>
          <a:p>
            <a:r>
              <a:rPr lang="en-US" sz="3600" dirty="0">
                <a:solidFill>
                  <a:schemeClr val="accent1"/>
                </a:solidFill>
              </a:rPr>
              <a:t>Line from one point (x1,y1) to (x2,y2)</a:t>
            </a:r>
          </a:p>
          <a:p>
            <a:r>
              <a:rPr lang="en-US" sz="3600" dirty="0">
                <a:solidFill>
                  <a:schemeClr val="accent1"/>
                </a:solidFill>
              </a:rPr>
              <a:t>Uses current line width, color</a:t>
            </a:r>
          </a:p>
          <a:p>
            <a:r>
              <a:rPr lang="en-US" sz="3600" dirty="0">
                <a:solidFill>
                  <a:schemeClr val="accent1"/>
                </a:solidFill>
              </a:rPr>
              <a:t>Testing Code – bunch of random lines</a:t>
            </a:r>
          </a:p>
          <a:p>
            <a:r>
              <a:rPr lang="en-US" sz="3200" dirty="0">
                <a:solidFill>
                  <a:schemeClr val="accent1"/>
                </a:solidFill>
              </a:rPr>
              <a:t>line_function_2.py – some more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F8DE1-5039-5AC7-FD89-797CBD20C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4FF16-4752-F591-7985-1B945541E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raysmith@alum.mit.edu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5F8D9-6A48-9BCD-3394-9320DE791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8668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A877F-A718-47D6-828D-F14357B0E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– Keyword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72DD4-6DBF-43CC-8728-9C2DC16B0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3600" dirty="0"/>
              <a:t>Optional parameters – for seldom used</a:t>
            </a:r>
          </a:p>
          <a:p>
            <a:r>
              <a:rPr lang="en-US" sz="3600" dirty="0"/>
              <a:t>Any Order – avoids  ordering mistakes</a:t>
            </a:r>
          </a:p>
          <a:p>
            <a:r>
              <a:rPr lang="en-US" sz="3600" dirty="0"/>
              <a:t>Parameter names help understanding</a:t>
            </a:r>
          </a:p>
          <a:p>
            <a:pPr marL="800100" lvl="2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myfun(key1=2, key2=7)</a:t>
            </a:r>
          </a:p>
          <a:p>
            <a:pPr marL="800100" lvl="2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myfun(key1=4)	# defaulted - key2</a:t>
            </a:r>
          </a:p>
          <a:p>
            <a:pPr marL="800100" lvl="2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myfun()				# All defaulted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C778F-46A9-469B-AFCA-A7F523273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1A704-7B25-4E2E-AEDE-6CB83EBFD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88A13-9CB2-48B8-A37E-911D446CD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93368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A877F-A718-47D6-828D-F14357B0E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– Keyword parameters</a:t>
            </a:r>
            <a:br>
              <a:rPr lang="en-US" dirty="0"/>
            </a:br>
            <a:r>
              <a:rPr lang="en-US" dirty="0"/>
              <a:t> </a:t>
            </a:r>
            <a:r>
              <a:rPr lang="en-US" sz="2400" dirty="0"/>
              <a:t>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72DD4-6DBF-43CC-8728-9C2DC16B0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654365"/>
            <a:ext cx="9170754" cy="3880773"/>
          </a:xfrm>
        </p:spPr>
        <p:txBody>
          <a:bodyPr>
            <a:normAutofit/>
          </a:bodyPr>
          <a:lstStyle/>
          <a:p>
            <a:pPr marL="800100" lvl="2" indent="0">
              <a:buNone/>
            </a:pPr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myfun(key1</a:t>
            </a:r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=None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, key2</a:t>
            </a:r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7):</a:t>
            </a:r>
          </a:p>
          <a:p>
            <a:pPr marL="1257300" lvl="3" indent="0">
              <a:buNone/>
            </a:pPr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key1 </a:t>
            </a:r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: #if absent</a:t>
            </a:r>
          </a:p>
          <a:p>
            <a:pPr marL="1714500" lvl="4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 key1 </a:t>
            </a:r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5		</a:t>
            </a:r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no key1</a:t>
            </a:r>
          </a:p>
          <a:p>
            <a:pPr marL="1257300" lvl="3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return key1 </a:t>
            </a:r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key2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C778F-46A9-469B-AFCA-A7F523273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1A704-7B25-4E2E-AEDE-6CB83EBFD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88A13-9CB2-48B8-A37E-911D446CD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1038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A3B7D-9381-43ED-A32C-2277435F2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Review </a:t>
            </a:r>
            <a:r>
              <a:rPr lang="en-US"/>
              <a:t>of Python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776-9422-4365-A33A-3CCD46A05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/>
            <a:r>
              <a:rPr lang="en-US" sz="3400" dirty="0"/>
              <a:t>What is</a:t>
            </a:r>
          </a:p>
          <a:p>
            <a:pPr marL="914400" lvl="2" indent="0"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"""</a:t>
            </a:r>
          </a:p>
          <a:p>
            <a:pPr marL="914400" lvl="2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More and</a:t>
            </a:r>
          </a:p>
          <a:p>
            <a:pPr marL="914400" lvl="2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More</a:t>
            </a:r>
          </a:p>
          <a:p>
            <a:pPr marL="914400" lvl="2" indent="0">
              <a:buNone/>
            </a:pPr>
            <a:r>
              <a:rPr lang="en-US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"""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34057-1D33-411A-BE2E-189ADCD4D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07C6D0-642C-4A40-B0F1-13ED56048173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CCAD4-12C8-4A68-9A85-D8DAB02AC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D1D6018-04FB-4D4B-8481-8BDBCB82B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</p:spTree>
    <p:extLst>
      <p:ext uri="{BB962C8B-B14F-4D97-AF65-F5344CB8AC3E}">
        <p14:creationId xmlns:p14="http://schemas.microsoft.com/office/powerpoint/2010/main" val="25407564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A3B7D-9381-43ED-A32C-2277435F2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Review of Python </a:t>
            </a:r>
            <a:r>
              <a:rPr lang="en-US" sz="2800" dirty="0"/>
              <a:t>- continue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776-9422-4365-A33A-3CCD46A05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/>
            <a:r>
              <a:rPr lang="en-US" sz="3400" dirty="0"/>
              <a:t>What is</a:t>
            </a:r>
          </a:p>
          <a:p>
            <a:pPr lvl="2"/>
            <a:r>
              <a:rPr lang="en-US" sz="3200" dirty="0"/>
              <a:t>4;5;6</a:t>
            </a:r>
          </a:p>
          <a:p>
            <a:pPr lvl="2"/>
            <a:r>
              <a:rPr lang="en-US" sz="3200" dirty="0"/>
              <a:t>2+3,2*3</a:t>
            </a:r>
          </a:p>
          <a:p>
            <a:pPr lvl="2"/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34057-1D33-411A-BE2E-189ADCD4D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07C6D0-642C-4A40-B0F1-13ED56048173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CCAD4-12C8-4A68-9A85-D8DAB02AC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D1D6018-04FB-4D4B-8481-8BDBCB82B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</p:spTree>
    <p:extLst>
      <p:ext uri="{BB962C8B-B14F-4D97-AF65-F5344CB8AC3E}">
        <p14:creationId xmlns:p14="http://schemas.microsoft.com/office/powerpoint/2010/main" val="7867378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A3B7D-9381-43ED-A32C-2277435F2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Review of Python </a:t>
            </a:r>
            <a:r>
              <a:rPr lang="en-US" sz="2800" dirty="0"/>
              <a:t>-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776-9422-4365-A33A-3CCD46A05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/>
            <a:r>
              <a:rPr lang="en-US" sz="3400" dirty="0"/>
              <a:t>How do we print a value?</a:t>
            </a:r>
          </a:p>
          <a:p>
            <a:pPr lvl="2"/>
            <a:r>
              <a:rPr lang="en-US" sz="3200" dirty="0"/>
              <a:t>On an IDLE line?</a:t>
            </a:r>
          </a:p>
          <a:p>
            <a:pPr lvl="2"/>
            <a:r>
              <a:rPr lang="en-US" sz="3200" dirty="0"/>
              <a:t>Using "print"</a:t>
            </a:r>
          </a:p>
          <a:p>
            <a:pPr lvl="2"/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34057-1D33-411A-BE2E-189ADCD4D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07C6D0-642C-4A40-B0F1-13ED56048173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CCAD4-12C8-4A68-9A85-D8DAB02AC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D1D6018-04FB-4D4B-8481-8BDBCB82B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</p:spTree>
    <p:extLst>
      <p:ext uri="{BB962C8B-B14F-4D97-AF65-F5344CB8AC3E}">
        <p14:creationId xmlns:p14="http://schemas.microsoft.com/office/powerpoint/2010/main" val="3056184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A3B7D-9381-43ED-A32C-2277435F2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Review of Python </a:t>
            </a:r>
            <a:r>
              <a:rPr lang="en-US" sz="2800" dirty="0"/>
              <a:t>-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776-9422-4365-A33A-3CCD46A05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/>
            <a:r>
              <a:rPr lang="en-US" sz="3400" dirty="0"/>
              <a:t>How do we print:</a:t>
            </a:r>
          </a:p>
          <a:p>
            <a:pPr lvl="2"/>
            <a:r>
              <a:rPr lang="en-US" sz="3200" dirty="0"/>
              <a:t> "Hello World!"?</a:t>
            </a:r>
          </a:p>
          <a:p>
            <a:pPr lvl="2"/>
            <a:r>
              <a:rPr lang="en-US" sz="3200" dirty="0"/>
              <a:t>The sum of 1 plus 2?</a:t>
            </a:r>
          </a:p>
          <a:p>
            <a:pPr lvl="2"/>
            <a:r>
              <a:rPr lang="en-US" sz="3200" dirty="0"/>
              <a:t>Three strings "a", "bc", "def"?</a:t>
            </a:r>
          </a:p>
          <a:p>
            <a:pPr lvl="2"/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34057-1D33-411A-BE2E-189ADCD4D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07C6D0-642C-4A40-B0F1-13ED56048173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CCAD4-12C8-4A68-9A85-D8DAB02AC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D1D6018-04FB-4D4B-8481-8BDBCB82B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</p:spTree>
    <p:extLst>
      <p:ext uri="{BB962C8B-B14F-4D97-AF65-F5344CB8AC3E}">
        <p14:creationId xmlns:p14="http://schemas.microsoft.com/office/powerpoint/2010/main" val="26658734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A3B7D-9381-43ED-A32C-2277435F2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Review of Python </a:t>
            </a:r>
            <a:r>
              <a:rPr lang="en-US" sz="2800" dirty="0"/>
              <a:t>-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776-9422-4365-A33A-3CCD46A05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/>
            <a:r>
              <a:rPr lang="en-US" sz="3400" dirty="0"/>
              <a:t>What is a variable?</a:t>
            </a:r>
          </a:p>
          <a:p>
            <a:pPr lvl="1"/>
            <a:r>
              <a:rPr lang="en-US" sz="3400" dirty="0"/>
              <a:t>Of what good is a variable?</a:t>
            </a:r>
          </a:p>
          <a:p>
            <a:pPr lvl="1"/>
            <a:r>
              <a:rPr lang="en-US" sz="3400" dirty="0"/>
              <a:t>Rules for naming a variable?</a:t>
            </a:r>
          </a:p>
          <a:p>
            <a:pPr lvl="1"/>
            <a:r>
              <a:rPr lang="en-US" sz="3400" dirty="0"/>
              <a:t>How do we:</a:t>
            </a:r>
          </a:p>
          <a:p>
            <a:pPr lvl="2"/>
            <a:r>
              <a:rPr lang="en-US" sz="3200" dirty="0"/>
              <a:t>Set up a variable?</a:t>
            </a:r>
          </a:p>
          <a:p>
            <a:pPr lvl="2"/>
            <a:r>
              <a:rPr lang="en-US" sz="3200" dirty="0"/>
              <a:t>Use a variable?</a:t>
            </a:r>
          </a:p>
          <a:p>
            <a:pPr lvl="2"/>
            <a:endParaRPr lang="en-US" sz="3200" dirty="0"/>
          </a:p>
          <a:p>
            <a:pPr lvl="2"/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34057-1D33-411A-BE2E-189ADCD4D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07C6D0-642C-4A40-B0F1-13ED56048173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CCAD4-12C8-4A68-9A85-D8DAB02AC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D1D6018-04FB-4D4B-8481-8BDBCB82B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</p:spTree>
    <p:extLst>
      <p:ext uri="{BB962C8B-B14F-4D97-AF65-F5344CB8AC3E}">
        <p14:creationId xmlns:p14="http://schemas.microsoft.com/office/powerpoint/2010/main" val="26911060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A3B7D-9381-43ED-A32C-2277435F2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Review of Python </a:t>
            </a:r>
            <a:r>
              <a:rPr lang="en-US" sz="2800" dirty="0"/>
              <a:t>-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776-9422-4365-A33A-3CCD46A05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/>
            <a:r>
              <a:rPr lang="en-US" sz="3400" dirty="0"/>
              <a:t>What does this do:</a:t>
            </a:r>
          </a:p>
          <a:p>
            <a:pPr marL="857250" lvl="2" indent="0">
              <a:buNone/>
            </a:pP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first = "who"</a:t>
            </a:r>
          </a:p>
          <a:p>
            <a:pPr marL="857250" lvl="2" indent="0">
              <a:buNone/>
            </a:pPr>
            <a:r>
              <a:rPr lang="en-US" sz="30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(first, "</a:t>
            </a:r>
            <a:r>
              <a:rPr lang="en-US" sz="3000" i="1" dirty="0">
                <a:latin typeface="Courier New" panose="02070309020205020404" pitchFamily="49" charset="0"/>
                <a:cs typeface="Courier New" panose="02070309020205020404" pitchFamily="49" charset="0"/>
              </a:rPr>
              <a:t>is </a:t>
            </a: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on first")</a:t>
            </a:r>
          </a:p>
          <a:p>
            <a:pPr lvl="2"/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34057-1D33-411A-BE2E-189ADCD4D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07C6D0-642C-4A40-B0F1-13ED56048173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CCAD4-12C8-4A68-9A85-D8DAB02AC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D1D6018-04FB-4D4B-8481-8BDBCB82B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</p:spTree>
    <p:extLst>
      <p:ext uri="{BB962C8B-B14F-4D97-AF65-F5344CB8AC3E}">
        <p14:creationId xmlns:p14="http://schemas.microsoft.com/office/powerpoint/2010/main" val="7748907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A3B7D-9381-43ED-A32C-2277435F2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Review of Python </a:t>
            </a:r>
            <a:r>
              <a:rPr lang="en-US" sz="2800" dirty="0"/>
              <a:t>-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776-9422-4365-A33A-3CCD46A05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/>
            <a:r>
              <a:rPr lang="en-US" sz="3400" dirty="0"/>
              <a:t>Legal variable names? Why?</a:t>
            </a:r>
          </a:p>
          <a:p>
            <a:pPr marL="857250" lvl="2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pPr marL="857250" lvl="2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tom</a:t>
            </a:r>
          </a:p>
          <a:p>
            <a:pPr marL="857250" lvl="2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max_val</a:t>
            </a:r>
          </a:p>
          <a:p>
            <a:pPr marL="857250" lvl="2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A21</a:t>
            </a:r>
          </a:p>
          <a:p>
            <a:pPr marL="857250" lvl="2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target_hi</a:t>
            </a:r>
            <a:br>
              <a:rPr lang="en-US" sz="2800" dirty="0"/>
            </a:b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__file__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34057-1D33-411A-BE2E-189ADCD4D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07C6D0-642C-4A40-B0F1-13ED56048173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CCAD4-12C8-4A68-9A85-D8DAB02AC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D1D6018-04FB-4D4B-8481-8BDBCB82B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</p:spTree>
    <p:extLst>
      <p:ext uri="{BB962C8B-B14F-4D97-AF65-F5344CB8AC3E}">
        <p14:creationId xmlns:p14="http://schemas.microsoft.com/office/powerpoint/2010/main" val="28356040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A3B7D-9381-43ED-A32C-2277435F2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Review Python </a:t>
            </a:r>
            <a:r>
              <a:rPr lang="en-US" sz="2800" dirty="0"/>
              <a:t>-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776-9422-4365-A33A-3CCD46A05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/>
            <a:r>
              <a:rPr lang="en-US" sz="3400" dirty="0"/>
              <a:t>Illegal variable names? Why?</a:t>
            </a:r>
          </a:p>
          <a:p>
            <a:pPr marL="857250" lvl="2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1a</a:t>
            </a:r>
          </a:p>
          <a:p>
            <a:pPr marL="857250" lvl="2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my name</a:t>
            </a:r>
          </a:p>
          <a:p>
            <a:pPr marL="857250" lvl="2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short-stop</a:t>
            </a:r>
          </a:p>
          <a:p>
            <a:pPr marL="857250" lvl="2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high.val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34057-1D33-411A-BE2E-189ADCD4D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07C6D0-642C-4A40-B0F1-13ED56048173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CCAD4-12C8-4A68-9A85-D8DAB02AC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D1D6018-04FB-4D4B-8481-8BDBCB82B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</p:spTree>
    <p:extLst>
      <p:ext uri="{BB962C8B-B14F-4D97-AF65-F5344CB8AC3E}">
        <p14:creationId xmlns:p14="http://schemas.microsoft.com/office/powerpoint/2010/main" val="30583556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A3B7D-9381-43ED-A32C-2277435F2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Review of Python </a:t>
            </a:r>
            <a:r>
              <a:rPr lang="en-US" sz="2800" dirty="0"/>
              <a:t>-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E776-9422-4365-A33A-3CCD46A05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/>
            <a:r>
              <a:rPr lang="en-US" sz="3400" dirty="0"/>
              <a:t>Program flow</a:t>
            </a:r>
          </a:p>
          <a:p>
            <a:pPr lvl="1"/>
            <a:r>
              <a:rPr lang="en-US" sz="3400" dirty="0"/>
              <a:t>Decisions to be made</a:t>
            </a:r>
          </a:p>
          <a:p>
            <a:pPr lvl="1"/>
            <a:r>
              <a:rPr lang="en-US" sz="3400" dirty="0"/>
              <a:t>Python decision making keywords?</a:t>
            </a:r>
          </a:p>
          <a:p>
            <a:pPr lvl="1"/>
            <a:r>
              <a:rPr lang="en-US" sz="3400" dirty="0"/>
              <a:t>How is keyword used? 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34057-1D33-411A-BE2E-189ADCD4D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07C6D0-642C-4A40-B0F1-13ED56048173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CCAD4-12C8-4A68-9A85-D8DAB02AC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D1D6018-04FB-4D4B-8481-8BDBCB82B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</p:spTree>
    <p:extLst>
      <p:ext uri="{BB962C8B-B14F-4D97-AF65-F5344CB8AC3E}">
        <p14:creationId xmlns:p14="http://schemas.microsoft.com/office/powerpoint/2010/main" val="6673373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00053-B36E-4E25-BF3E-C1F0F5E43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Language - </a:t>
            </a:r>
            <a:r>
              <a:rPr lang="en-US" i="1" dirty="0"/>
              <a:t>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25ADA-A4CD-40B9-8F61-E0365B4A3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/>
              <a:t>Arithmetic almost like algebra class : </a:t>
            </a:r>
            <a:r>
              <a:rPr lang="en-US" sz="3600" b="1" dirty="0"/>
              <a:t>+</a:t>
            </a:r>
            <a:r>
              <a:rPr lang="en-US" sz="3600" dirty="0"/>
              <a:t>,</a:t>
            </a:r>
            <a:r>
              <a:rPr lang="en-US" sz="3600" b="1" dirty="0"/>
              <a:t>-</a:t>
            </a:r>
            <a:r>
              <a:rPr lang="en-US" sz="3600" dirty="0"/>
              <a:t>,</a:t>
            </a:r>
            <a:r>
              <a:rPr lang="en-US" sz="3600" b="1" dirty="0"/>
              <a:t>*</a:t>
            </a:r>
            <a:r>
              <a:rPr lang="en-US" sz="3600" dirty="0"/>
              <a:t>, </a:t>
            </a:r>
            <a:r>
              <a:rPr lang="en-US" sz="3600" b="1" dirty="0"/>
              <a:t>&gt;</a:t>
            </a:r>
            <a:r>
              <a:rPr lang="en-US" sz="3600" dirty="0"/>
              <a:t>, </a:t>
            </a:r>
            <a:r>
              <a:rPr lang="en-US" sz="3600" b="1" dirty="0"/>
              <a:t>&gt;=</a:t>
            </a:r>
            <a:r>
              <a:rPr lang="en-US" sz="3600" dirty="0"/>
              <a:t>, </a:t>
            </a:r>
            <a:r>
              <a:rPr lang="en-US" sz="3600" b="1" dirty="0"/>
              <a:t>==</a:t>
            </a:r>
          </a:p>
          <a:p>
            <a:r>
              <a:rPr lang="en-US" sz="3600" dirty="0"/>
              <a:t>BUT single “</a:t>
            </a:r>
            <a:r>
              <a:rPr lang="en-US" sz="3600" b="1" dirty="0"/>
              <a:t>=</a:t>
            </a:r>
            <a:r>
              <a:rPr lang="en-US" sz="3600" dirty="0"/>
              <a:t>” is for assignment</a:t>
            </a:r>
          </a:p>
          <a:p>
            <a:pPr marL="857250" lvl="2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max_value = 20</a:t>
            </a:r>
          </a:p>
          <a:p>
            <a:pPr marL="857250" lvl="2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value </a:t>
            </a:r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value </a:t>
            </a:r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5</a:t>
            </a:r>
          </a:p>
          <a:p>
            <a:pPr marL="857250" lvl="2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in = pr </a:t>
            </a:r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(1</a:t>
            </a:r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rate)</a:t>
            </a:r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years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DEF3C-1565-472F-9B72-75D3C3C84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494EF9-6E48-4BE5-9FFB-0B54D3D03D55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1324D-1763-4B4E-BB3F-99C664772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D4E3B63-4850-407B-8E3C-9B765FA0C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</p:spTree>
    <p:extLst>
      <p:ext uri="{BB962C8B-B14F-4D97-AF65-F5344CB8AC3E}">
        <p14:creationId xmlns:p14="http://schemas.microsoft.com/office/powerpoint/2010/main" val="22572952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00053-B36E-4E25-BF3E-C1F0F5E43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Language – </a:t>
            </a:r>
            <a:r>
              <a:rPr lang="en-US" i="1" dirty="0"/>
              <a:t>print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25ADA-A4CD-40B9-8F61-E0365B4A3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Prints one or more values</a:t>
            </a:r>
          </a:p>
          <a:p>
            <a:r>
              <a:rPr lang="en-US" sz="3600" dirty="0"/>
              <a:t>Separate values by commas </a:t>
            </a:r>
            <a:r>
              <a:rPr lang="en-US" sz="3600" b="1" dirty="0"/>
              <a:t>(,)</a:t>
            </a:r>
          </a:p>
          <a:p>
            <a:pPr marL="800100" lvl="2" indent="0">
              <a:buNone/>
            </a:pPr>
            <a:r>
              <a:rPr lang="en-US" sz="3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3600" dirty="0"/>
              <a:t>"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Hello</a:t>
            </a:r>
            <a:r>
              <a:rPr lang="en-US" sz="3600" dirty="0"/>
              <a:t>"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800100" lvl="2" indent="0">
              <a:buNone/>
            </a:pPr>
            <a:r>
              <a:rPr lang="en-US" sz="3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3600" dirty="0"/>
              <a:t>"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value: </a:t>
            </a:r>
            <a:r>
              <a:rPr lang="en-US" sz="3600" dirty="0"/>
              <a:t>"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, 10)</a:t>
            </a:r>
          </a:p>
          <a:p>
            <a:pPr marL="800100" lvl="2" indent="0">
              <a:buNone/>
            </a:pPr>
            <a:r>
              <a:rPr lang="en-US" sz="3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3600" dirty="0"/>
              <a:t>"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Maximum: </a:t>
            </a:r>
            <a:r>
              <a:rPr lang="en-US" sz="3600" dirty="0"/>
              <a:t>"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, max)</a:t>
            </a:r>
          </a:p>
          <a:p>
            <a:pPr marL="800100" lvl="2" indent="0">
              <a:buNone/>
            </a:pPr>
            <a:endParaRPr lang="en-US" sz="3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79690-DF9C-44F2-AAFD-69F1D2CB6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80AC0F-142E-4BD1-B5DE-2C1EB2FC1D0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4C5F0-A903-424D-A084-4C8ECAB89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52335E0-F1D9-451C-AF8F-4212031B4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</p:spTree>
    <p:extLst>
      <p:ext uri="{BB962C8B-B14F-4D97-AF65-F5344CB8AC3E}">
        <p14:creationId xmlns:p14="http://schemas.microsoft.com/office/powerpoint/2010/main" val="5988199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00053-B36E-4E25-BF3E-C1F0F5E43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Language - </a:t>
            </a:r>
            <a:r>
              <a:rPr lang="en-US" i="1" dirty="0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25ADA-A4CD-40B9-8F61-E0365B4A3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4"/>
                </a:solidFill>
              </a:rPr>
              <a:t>if</a:t>
            </a:r>
            <a:r>
              <a:rPr lang="en-US" sz="3600" dirty="0"/>
              <a:t>   </a:t>
            </a:r>
            <a:r>
              <a:rPr lang="en-US" sz="3600" i="1" dirty="0"/>
              <a:t>condition</a:t>
            </a:r>
            <a:r>
              <a:rPr lang="en-US" sz="3600" dirty="0"/>
              <a:t>   :</a:t>
            </a:r>
          </a:p>
          <a:p>
            <a:pPr marL="800100" lvl="2" indent="0">
              <a:buNone/>
            </a:pPr>
            <a:r>
              <a:rPr lang="en-US" sz="3600" dirty="0"/>
              <a:t>One or more lines </a:t>
            </a:r>
            <a:r>
              <a:rPr lang="en-US" sz="3600" b="1" dirty="0"/>
              <a:t>indented the same amount</a:t>
            </a:r>
            <a:endParaRPr lang="en-US" sz="3600" dirty="0"/>
          </a:p>
          <a:p>
            <a:pPr marL="400050" lvl="1" indent="0">
              <a:buNone/>
            </a:pPr>
            <a:r>
              <a:rPr lang="en-US" sz="28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value &gt; max_value:</a:t>
            </a:r>
          </a:p>
          <a:p>
            <a:pPr marL="400050" lvl="1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("value", value, " is big")</a:t>
            </a:r>
          </a:p>
          <a:p>
            <a:pPr marL="400050" lvl="1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("Try less than", max_value)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7335C-B87B-43F2-9E3E-7CFEA5F99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1DCA66-61A3-46A5-A102-0557E69789BF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AEB3-DDF5-4B15-9DBB-7D7773243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2DD50D-EAB2-4209-ACD4-EEF4B6AC3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</p:spTree>
    <p:extLst>
      <p:ext uri="{BB962C8B-B14F-4D97-AF65-F5344CB8AC3E}">
        <p14:creationId xmlns:p14="http://schemas.microsoft.com/office/powerpoint/2010/main" val="1331115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00053-B36E-4E25-BF3E-C1F0F5E43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Language – </a:t>
            </a:r>
            <a:r>
              <a:rPr lang="en-US" i="1" dirty="0"/>
              <a:t>Looping - while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25ADA-A4CD-40B9-8F61-E0365B4A3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>
                <a:solidFill>
                  <a:schemeClr val="accent4"/>
                </a:solidFill>
              </a:rPr>
              <a:t>while</a:t>
            </a:r>
            <a:r>
              <a:rPr lang="en-US" sz="3600" dirty="0"/>
              <a:t>   </a:t>
            </a:r>
            <a:r>
              <a:rPr lang="en-US" sz="2800" i="1" dirty="0"/>
              <a:t>condition</a:t>
            </a:r>
            <a:r>
              <a:rPr lang="en-US" sz="3600" dirty="0"/>
              <a:t>   :</a:t>
            </a:r>
          </a:p>
          <a:p>
            <a:r>
              <a:rPr lang="en-US" sz="3200" i="1" dirty="0"/>
              <a:t>One or more statements indented</a:t>
            </a:r>
          </a:p>
          <a:p>
            <a:pPr marL="800100" lvl="2" indent="0">
              <a:buNone/>
            </a:pPr>
            <a:r>
              <a:rPr lang="en-US" sz="3200" i="1" dirty="0"/>
              <a:t>to the </a:t>
            </a:r>
            <a:r>
              <a:rPr lang="en-US" sz="3200" b="1" i="1" dirty="0"/>
              <a:t>SAME</a:t>
            </a:r>
            <a:r>
              <a:rPr lang="en-US" sz="3200" i="1" dirty="0"/>
              <a:t> indentation</a:t>
            </a:r>
          </a:p>
          <a:p>
            <a:pPr marL="400050" lvl="1" indent="0">
              <a:buNone/>
            </a:pPr>
            <a:r>
              <a:rPr lang="en-US" sz="28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value &lt; max_value:</a:t>
            </a:r>
          </a:p>
          <a:p>
            <a:pPr marL="800100" lvl="2" indent="0">
              <a:buNone/>
            </a:pPr>
            <a:r>
              <a:rPr lang="en-US" sz="2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("value ", value, " is OK")</a:t>
            </a:r>
          </a:p>
          <a:p>
            <a:pPr marL="800100" lvl="2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value = value + 10</a:t>
            </a:r>
          </a:p>
          <a:p>
            <a:pPr marL="400050" lvl="1" indent="0">
              <a:buNone/>
            </a:pPr>
            <a:r>
              <a:rPr lang="en-US" sz="2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("value is now", value)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8DDDE-9884-4813-8B10-09CDA743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FA9525-5BAF-4C08-8086-C4599FF3B825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E99A1-C978-41C7-B81D-4759C0491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003FCC3-AEC8-448E-AC87-0B52012CE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</p:spTree>
    <p:extLst>
      <p:ext uri="{BB962C8B-B14F-4D97-AF65-F5344CB8AC3E}">
        <p14:creationId xmlns:p14="http://schemas.microsoft.com/office/powerpoint/2010/main" val="21953784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00053-B36E-4E25-BF3E-C1F0F5E43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Language – </a:t>
            </a:r>
            <a:r>
              <a:rPr lang="en-US" i="1" dirty="0"/>
              <a:t>Looping - 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25ADA-A4CD-40B9-8F61-E0365B4A3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4"/>
                </a:solidFill>
              </a:rPr>
              <a:t>for</a:t>
            </a:r>
            <a:r>
              <a:rPr lang="en-US" sz="3600" dirty="0"/>
              <a:t> </a:t>
            </a:r>
            <a:r>
              <a:rPr lang="en-US" sz="2800" i="1" dirty="0"/>
              <a:t>variable  </a:t>
            </a:r>
            <a:r>
              <a:rPr lang="en-US" sz="2800" i="1" dirty="0">
                <a:solidFill>
                  <a:schemeClr val="accent4"/>
                </a:solidFill>
              </a:rPr>
              <a:t>in</a:t>
            </a:r>
            <a:r>
              <a:rPr lang="en-US" sz="2800" i="1" dirty="0"/>
              <a:t> list</a:t>
            </a:r>
            <a:r>
              <a:rPr lang="en-US" sz="3600" dirty="0"/>
              <a:t>   “:”</a:t>
            </a:r>
          </a:p>
          <a:p>
            <a:pPr marL="800100" lvl="2" indent="0">
              <a:buNone/>
            </a:pPr>
            <a:r>
              <a:rPr lang="en-US" sz="3200" i="1" dirty="0"/>
              <a:t>One or more statements indented</a:t>
            </a:r>
          </a:p>
          <a:p>
            <a:pPr marL="800100" lvl="2" indent="0">
              <a:buNone/>
            </a:pPr>
            <a:r>
              <a:rPr lang="en-US" sz="3200" i="1" dirty="0"/>
              <a:t>to the </a:t>
            </a:r>
            <a:r>
              <a:rPr lang="en-US" sz="3200" b="1" i="1" dirty="0"/>
              <a:t>SAME</a:t>
            </a:r>
            <a:r>
              <a:rPr lang="en-US" sz="3200" i="1" dirty="0"/>
              <a:t> indentation</a:t>
            </a:r>
          </a:p>
          <a:p>
            <a:pPr marL="400050" lvl="1" indent="0">
              <a:buNone/>
            </a:pPr>
            <a:r>
              <a:rPr lang="en-US" sz="28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 in </a:t>
            </a:r>
            <a:r>
              <a:rPr lang="en-US" sz="2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</a:t>
            </a:r>
            <a:r>
              <a:rPr lang="en-US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(1,10+1):</a:t>
            </a:r>
          </a:p>
          <a:p>
            <a:pPr marL="800100" lvl="2" indent="0">
              <a:buNone/>
            </a:pPr>
            <a:r>
              <a:rPr lang="en-US" sz="26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("n:", n)</a:t>
            </a:r>
          </a:p>
          <a:p>
            <a:pPr marL="400050" lvl="1" indent="0">
              <a:buNone/>
            </a:pPr>
            <a:r>
              <a:rPr lang="en-US" sz="2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("n is now:", n)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8DDDE-9884-4813-8B10-09CDA743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FA9525-5BAF-4C08-8086-C4599FF3B825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E99A1-C978-41C7-B81D-4759C0491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003FCC3-AEC8-448E-AC87-0B52012CE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</p:spTree>
    <p:extLst>
      <p:ext uri="{BB962C8B-B14F-4D97-AF65-F5344CB8AC3E}">
        <p14:creationId xmlns:p14="http://schemas.microsoft.com/office/powerpoint/2010/main" val="41505584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2A21F-6AC4-4BE4-9E4C-559699255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Language – </a:t>
            </a:r>
            <a:r>
              <a:rPr lang="en-US" i="1" dirty="0"/>
              <a:t>input function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925D5-23EB-4998-95B1-81DE6DF04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Get user input</a:t>
            </a:r>
          </a:p>
          <a:p>
            <a:pPr marL="400050" lvl="1" indent="0">
              <a:buNone/>
            </a:pP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inp = input()</a:t>
            </a:r>
          </a:p>
          <a:p>
            <a:pPr marL="457200" indent="-457200"/>
            <a:r>
              <a:rPr lang="en-US" sz="3600" dirty="0">
                <a:solidFill>
                  <a:schemeClr val="accent1"/>
                </a:solidFill>
              </a:rPr>
              <a:t>Prompt user first</a:t>
            </a:r>
          </a:p>
          <a:p>
            <a:pPr marL="400050" lvl="1" indent="0">
              <a:buNone/>
            </a:pP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inp = input(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Please enter: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indent="-457200"/>
            <a:r>
              <a:rPr lang="en-US" sz="3600" dirty="0">
                <a:solidFill>
                  <a:schemeClr val="accent1"/>
                </a:solidFill>
              </a:rPr>
              <a:t>Convert </a:t>
            </a:r>
            <a:r>
              <a:rPr lang="en-US" sz="3600" b="1" dirty="0">
                <a:solidFill>
                  <a:schemeClr val="accent1"/>
                </a:solidFill>
              </a:rPr>
              <a:t>character string </a:t>
            </a:r>
            <a:r>
              <a:rPr lang="en-US" sz="3600" dirty="0">
                <a:solidFill>
                  <a:schemeClr val="accent1"/>
                </a:solidFill>
              </a:rPr>
              <a:t>to </a:t>
            </a:r>
            <a:r>
              <a:rPr lang="en-US" sz="3600" b="1" dirty="0">
                <a:solidFill>
                  <a:schemeClr val="accent1"/>
                </a:solidFill>
              </a:rPr>
              <a:t>Integer</a:t>
            </a:r>
          </a:p>
          <a:p>
            <a:pPr marL="400050" lvl="1" indent="0"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nval = int(inp)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F220DBF-FBF4-4FEE-8F39-7076A39C2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6CD480-3A8F-444C-A8A1-679DB6256CDA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380357D-3DF3-4D9A-B5E2-B9886A534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E0C2532-389C-4864-823B-205A74C17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</p:spTree>
    <p:extLst>
      <p:ext uri="{BB962C8B-B14F-4D97-AF65-F5344CB8AC3E}">
        <p14:creationId xmlns:p14="http://schemas.microsoft.com/office/powerpoint/2010/main" val="11838130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B1653-2537-42F1-98C9-005DFC393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53440"/>
          </a:xfrm>
        </p:spPr>
        <p:txBody>
          <a:bodyPr>
            <a:normAutofit fontScale="90000"/>
          </a:bodyPr>
          <a:lstStyle/>
          <a:p>
            <a:r>
              <a:rPr lang="en-US" dirty="0"/>
              <a:t>Thinking of Iterations - </a:t>
            </a:r>
            <a:r>
              <a:rPr lang="en-US" sz="3600" dirty="0"/>
              <a:t>Show progress</a:t>
            </a:r>
            <a:br>
              <a:rPr lang="en-US" sz="3600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602DA-1F3F-4CE1-B42C-7FBEFDFF8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45921"/>
            <a:ext cx="8596668" cy="4395442"/>
          </a:xfrm>
        </p:spPr>
        <p:txBody>
          <a:bodyPr>
            <a:normAutofit/>
          </a:bodyPr>
          <a:lstStyle/>
          <a:p>
            <a:r>
              <a:rPr lang="en-US" sz="3600" dirty="0"/>
              <a:t>Think Features</a:t>
            </a:r>
          </a:p>
          <a:p>
            <a:r>
              <a:rPr lang="en-US" sz="3600" dirty="0"/>
              <a:t>Prioritize</a:t>
            </a:r>
          </a:p>
          <a:p>
            <a:r>
              <a:rPr lang="en-US" sz="3600" dirty="0"/>
              <a:t>Order most to least / easy to hard</a:t>
            </a:r>
          </a:p>
          <a:p>
            <a:r>
              <a:rPr lang="en-US" sz="3600" dirty="0"/>
              <a:t>Build to the next</a:t>
            </a:r>
          </a:p>
          <a:p>
            <a:r>
              <a:rPr lang="en-US" sz="3600" dirty="0"/>
              <a:t>Balance </a:t>
            </a:r>
            <a:r>
              <a:rPr lang="en-US" sz="3600" dirty="0">
                <a:solidFill>
                  <a:srgbClr val="FF0000"/>
                </a:solidFill>
              </a:rPr>
              <a:t>Big Bang! </a:t>
            </a:r>
            <a:r>
              <a:rPr lang="en-US" sz="3600" dirty="0"/>
              <a:t>with </a:t>
            </a:r>
            <a:r>
              <a:rPr lang="en-US" sz="3600" dirty="0">
                <a:solidFill>
                  <a:schemeClr val="accent2"/>
                </a:solidFill>
              </a:rPr>
              <a:t>Show it NOW.</a:t>
            </a:r>
          </a:p>
          <a:p>
            <a:r>
              <a:rPr lang="en-US" sz="3600" dirty="0"/>
              <a:t>Show progress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2BDAB-A64D-4F2D-A08E-F2E0718C4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ACF2A-F4A3-4502-A730-6214DCB4C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AB59E-70B2-472B-AF93-CEC752479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13421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B1653-2537-42F1-98C9-005DFC393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Program Iterations</a:t>
            </a:r>
            <a:br>
              <a:rPr lang="en-US" dirty="0"/>
            </a:br>
            <a:r>
              <a:rPr lang="en-US" dirty="0"/>
              <a:t>for Twenty Questions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602DA-1F3F-4CE1-B42C-7FBEFDFF8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14400" dirty="0">
                <a:solidFill>
                  <a:srgbClr val="0070C0"/>
                </a:solidFill>
              </a:rPr>
              <a:t>First</a:t>
            </a:r>
            <a:r>
              <a:rPr lang="en-US" sz="14400" dirty="0"/>
              <a:t>:</a:t>
            </a:r>
          </a:p>
          <a:p>
            <a:pPr lvl="1"/>
            <a:r>
              <a:rPr lang="en-US" sz="14400" dirty="0"/>
              <a:t>loop asking number</a:t>
            </a:r>
          </a:p>
          <a:p>
            <a:pPr lvl="1"/>
            <a:r>
              <a:rPr lang="en-US" sz="14400" dirty="0"/>
              <a:t>print number entered</a:t>
            </a:r>
          </a:p>
          <a:p>
            <a:r>
              <a:rPr lang="en-US" sz="14400" dirty="0">
                <a:solidFill>
                  <a:srgbClr val="0070C0"/>
                </a:solidFill>
              </a:rPr>
              <a:t>Second</a:t>
            </a:r>
            <a:r>
              <a:rPr lang="en-US" sz="14400" dirty="0"/>
              <a:t>:</a:t>
            </a:r>
          </a:p>
          <a:p>
            <a:pPr lvl="1"/>
            <a:r>
              <a:rPr lang="en-US" sz="14400" dirty="0"/>
              <a:t>Set target value</a:t>
            </a:r>
          </a:p>
          <a:p>
            <a:pPr lvl="1"/>
            <a:r>
              <a:rPr lang="en-US" sz="14400" dirty="0"/>
              <a:t>Quit if number entered number equals target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2BDAB-A64D-4F2D-A08E-F2E0718C4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ACF2A-F4A3-4502-A730-6214DCB4C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AB59E-70B2-472B-AF93-CEC752479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88724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B1653-2537-42F1-98C9-005DFC393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 of the Iterations -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602DA-1F3F-4CE1-B42C-7FBEFDFF8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14400" dirty="0">
                <a:solidFill>
                  <a:srgbClr val="0070C0"/>
                </a:solidFill>
              </a:rPr>
              <a:t>Third</a:t>
            </a:r>
            <a:r>
              <a:rPr lang="en-US" sz="14400" dirty="0"/>
              <a:t>: Say if greater, less or equal</a:t>
            </a:r>
          </a:p>
          <a:p>
            <a:r>
              <a:rPr lang="en-US" sz="14400" dirty="0">
                <a:solidFill>
                  <a:srgbClr val="0070C0"/>
                </a:solidFill>
              </a:rPr>
              <a:t>Fourth</a:t>
            </a:r>
            <a:r>
              <a:rPr lang="en-US" sz="14400" dirty="0"/>
              <a:t>: Set target to random number</a:t>
            </a:r>
          </a:p>
          <a:p>
            <a:r>
              <a:rPr lang="en-US" sz="14400" dirty="0">
                <a:solidFill>
                  <a:srgbClr val="0070C0"/>
                </a:solidFill>
              </a:rPr>
              <a:t>Fifth</a:t>
            </a:r>
            <a:r>
              <a:rPr lang="en-US" sz="14400" dirty="0"/>
              <a:t>: Say goals, rules before start, including "a number between…"</a:t>
            </a:r>
          </a:p>
          <a:p>
            <a:r>
              <a:rPr lang="en-US" sz="14400" dirty="0">
                <a:solidFill>
                  <a:srgbClr val="0070C0"/>
                </a:solidFill>
              </a:rPr>
              <a:t>Sixth</a:t>
            </a:r>
            <a:r>
              <a:rPr lang="en-US" sz="14400" dirty="0"/>
              <a:t>: Ask player if they want another play – multiple times</a:t>
            </a:r>
          </a:p>
          <a:p>
            <a:r>
              <a:rPr lang="en-US" sz="14400" dirty="0">
                <a:solidFill>
                  <a:srgbClr val="0070C0"/>
                </a:solidFill>
              </a:rPr>
              <a:t>Seventh</a:t>
            </a:r>
            <a:r>
              <a:rPr lang="en-US" sz="14400" dirty="0"/>
              <a:t>: Handle user typos / illegal inputs</a:t>
            </a:r>
          </a:p>
          <a:p>
            <a:endParaRPr lang="en-US" sz="14400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2BDAB-A64D-4F2D-A08E-F2E0718C4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ACF2A-F4A3-4502-A730-6214DCB4C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AB59E-70B2-472B-AF93-CEC752479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30582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7402A-1E56-40FB-B43F-2D86D40BC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More </a:t>
            </a:r>
            <a:r>
              <a:rPr lang="en-US" sz="4000" dirty="0"/>
              <a:t>Python</a:t>
            </a:r>
            <a:r>
              <a:rPr lang="en-US" dirty="0"/>
              <a:t> – Variables</a:t>
            </a:r>
            <a:br>
              <a:rPr lang="en-US" dirty="0"/>
            </a:br>
            <a:r>
              <a:rPr lang="en-US" sz="3100" b="1" dirty="0"/>
              <a:t>Places to store values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9BEBB-DE71-47B2-9CE0-FB05B843B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sz="3600" dirty="0"/>
              <a:t>Holds data, with a name</a:t>
            </a:r>
          </a:p>
          <a:p>
            <a:pPr lvl="0"/>
            <a:r>
              <a:rPr lang="en-US" sz="3600" dirty="0"/>
              <a:t>Eases the use/reuse our data/results</a:t>
            </a:r>
          </a:p>
          <a:p>
            <a:pPr lvl="0"/>
            <a:r>
              <a:rPr lang="en-US" sz="3600" dirty="0"/>
              <a:t>Names have rules:</a:t>
            </a:r>
          </a:p>
          <a:p>
            <a:pPr lvl="1"/>
            <a:r>
              <a:rPr lang="en-US" sz="2800" dirty="0"/>
              <a:t>Start with a letter (a-zA-Z_)</a:t>
            </a:r>
          </a:p>
          <a:p>
            <a:pPr lvl="1"/>
            <a:r>
              <a:rPr lang="en-US" sz="2800" dirty="0"/>
              <a:t>Followed by zero or more digits (0-9) or letters</a:t>
            </a:r>
          </a:p>
          <a:p>
            <a:pPr lvl="1"/>
            <a:r>
              <a:rPr lang="en-US" sz="2800" dirty="0"/>
              <a:t>OK - a, a1, my_variable, a2or3</a:t>
            </a:r>
          </a:p>
          <a:p>
            <a:pPr lvl="1"/>
            <a:r>
              <a:rPr lang="en-US" sz="2800" dirty="0"/>
              <a:t>NOT - 1, 1a, my-variable, "ray,smith"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25E65-9CF3-48A4-A040-8F6273636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A2F0F-2260-4F2C-ADB5-34756B778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E251E-1D18-427E-B8F7-D11E7D7CE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86419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7402A-1E56-40FB-B43F-2D86D40BC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Python Language Guidelines</a:t>
            </a:r>
            <a:br>
              <a:rPr lang="en-US" dirty="0"/>
            </a:br>
            <a:r>
              <a:rPr lang="en-US" dirty="0"/>
              <a:t>with some exceptions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9BEBB-DE71-47B2-9CE0-FB05B843B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12800" b="1" dirty="0"/>
              <a:t>A statement is on ONE line</a:t>
            </a:r>
          </a:p>
          <a:p>
            <a:r>
              <a:rPr lang="en-US" sz="9600" dirty="0"/>
              <a:t>YES:</a:t>
            </a:r>
          </a:p>
          <a:p>
            <a:pPr marL="457200" lvl="1" indent="0">
              <a:buNone/>
            </a:pP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sum = 1 + 2</a:t>
            </a:r>
          </a:p>
          <a:p>
            <a:r>
              <a:rPr lang="en-US" sz="9600" dirty="0"/>
              <a:t>NO:</a:t>
            </a:r>
          </a:p>
          <a:p>
            <a:pPr marL="400050" lvl="1" indent="0">
              <a:buNone/>
            </a:pP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sum = 1 +</a:t>
            </a:r>
          </a:p>
          <a:p>
            <a:pPr marL="400050" lvl="1" indent="0">
              <a:buNone/>
            </a:pPr>
            <a:r>
              <a:rPr lang="en-US" sz="5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sz="96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lvl="0"/>
            <a:r>
              <a:rPr lang="en-US" sz="11200" b="1" dirty="0"/>
              <a:t>Parenthesized</a:t>
            </a:r>
            <a:r>
              <a:rPr lang="en-US" sz="11200" dirty="0"/>
              <a:t> grouping may be on multiple lines</a:t>
            </a:r>
          </a:p>
          <a:p>
            <a:pPr marL="457200" indent="-457200"/>
            <a:r>
              <a:rPr lang="en-US" sz="1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YES</a:t>
            </a:r>
            <a:r>
              <a:rPr lang="en-US" sz="11200" dirty="0">
                <a:latin typeface="Courier New" panose="02070309020205020404" pitchFamily="49" charset="0"/>
                <a:cs typeface="Courier New" panose="02070309020205020404" pitchFamily="49" charset="0"/>
              </a:rPr>
              <a:t>: sum = </a:t>
            </a:r>
            <a:r>
              <a:rPr lang="en-US" sz="1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12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sz="1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sz="1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			+ </a:t>
            </a:r>
            <a:r>
              <a:rPr lang="en-US" sz="112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0"/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25E65-9CF3-48A4-A040-8F6273636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A2F0F-2260-4F2C-ADB5-34756B778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E251E-1D18-427E-B8F7-D11E7D7CE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62658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7402A-1E56-40FB-B43F-2D86D40BC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Python Language Guidelines</a:t>
            </a:r>
            <a:br>
              <a:rPr lang="en-US" dirty="0"/>
            </a:br>
            <a:r>
              <a:rPr lang="en-US" dirty="0"/>
              <a:t>- continued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9BEBB-DE71-47B2-9CE0-FB05B843B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5100" b="1" dirty="0"/>
              <a:t>	A group of statements:</a:t>
            </a:r>
          </a:p>
          <a:p>
            <a:pPr lvl="1"/>
            <a:r>
              <a:rPr lang="en-US" sz="5600" dirty="0"/>
              <a:t>Are executed in order</a:t>
            </a:r>
          </a:p>
          <a:p>
            <a:pPr lvl="1"/>
            <a:r>
              <a:rPr lang="en-US" sz="4900" b="1" dirty="0"/>
              <a:t>Must start at same indentation (from left)</a:t>
            </a:r>
          </a:p>
          <a:p>
            <a:pPr lvl="0"/>
            <a:r>
              <a:rPr lang="en-US" sz="5100" b="1" dirty="0"/>
              <a:t>BUT Parenthesized: ( ),[ ],{ }</a:t>
            </a:r>
            <a:r>
              <a:rPr lang="en-US" sz="5100" dirty="0"/>
              <a:t> groupings may have any indentation within the parentheses</a:t>
            </a:r>
          </a:p>
          <a:p>
            <a:pPr lvl="0"/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25E65-9CF3-48A4-A040-8F6273636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A2F0F-2260-4F2C-ADB5-34756B778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E251E-1D18-427E-B8F7-D11E7D7CE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88363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7402A-1E56-40FB-B43F-2D86D40BC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Python Language Guidelines</a:t>
            </a:r>
            <a:br>
              <a:rPr lang="en-US" dirty="0"/>
            </a:br>
            <a:r>
              <a:rPr lang="en-US" dirty="0"/>
              <a:t>- continued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9BEBB-DE71-47B2-9CE0-FB05B843B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YES:</a:t>
            </a:r>
          </a:p>
          <a:p>
            <a:pPr marL="1257300" lvl="3" indent="0">
              <a:buNone/>
            </a:pPr>
            <a:r>
              <a:rPr lang="en-US" sz="2400" dirty="0"/>
              <a:t>start = 1</a:t>
            </a:r>
          </a:p>
          <a:p>
            <a:pPr marL="1257300" lvl="3" indent="0">
              <a:buNone/>
            </a:pPr>
            <a:r>
              <a:rPr lang="en-US" sz="2400" dirty="0"/>
              <a:t>last = 3</a:t>
            </a:r>
          </a:p>
          <a:p>
            <a:pPr marL="1257300" lvl="3" indent="0">
              <a:buNone/>
            </a:pPr>
            <a:r>
              <a:rPr lang="en-US" sz="2400" dirty="0"/>
              <a:t>increment = 1</a:t>
            </a:r>
          </a:p>
          <a:p>
            <a:r>
              <a:rPr lang="en-US" sz="2400" dirty="0"/>
              <a:t>NO:</a:t>
            </a:r>
          </a:p>
          <a:p>
            <a:pPr marL="1257300" lvl="3" indent="0">
              <a:buNone/>
            </a:pPr>
            <a:r>
              <a:rPr lang="en-US" sz="2400" dirty="0"/>
              <a:t>start = 1</a:t>
            </a:r>
          </a:p>
          <a:p>
            <a:pPr marL="1714500" lvl="4" indent="0">
              <a:buNone/>
            </a:pPr>
            <a:r>
              <a:rPr lang="en-US" sz="2400" b="1" dirty="0"/>
              <a:t>last = 3</a:t>
            </a:r>
            <a:endParaRPr lang="en-US" sz="2400" dirty="0"/>
          </a:p>
          <a:p>
            <a:pPr marL="1257300" lvl="3" indent="0">
              <a:buNone/>
            </a:pPr>
            <a:r>
              <a:rPr lang="en-US" sz="2400" dirty="0"/>
              <a:t>increment = 1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25E65-9CF3-48A4-A040-8F6273636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A2F0F-2260-4F2C-ADB5-34756B778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E251E-1D18-427E-B8F7-D11E7D7CE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44532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7402A-1E56-40FB-B43F-2D86D40BC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Python import</a:t>
            </a:r>
            <a:br>
              <a:rPr lang="en-US" dirty="0"/>
            </a:br>
            <a:r>
              <a:rPr lang="en-US" dirty="0"/>
              <a:t>Bring in support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9BEBB-DE71-47B2-9CE0-FB05B843B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import</a:t>
            </a:r>
            <a:r>
              <a:rPr lang="en-US" sz="2800" dirty="0"/>
              <a:t> brings in support</a:t>
            </a:r>
          </a:p>
          <a:p>
            <a:pPr marL="400050" lvl="1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import random		# for random numbers</a:t>
            </a:r>
          </a:p>
          <a:p>
            <a:pPr marL="400050" lvl="1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from random import randint	# just named</a:t>
            </a:r>
          </a:p>
          <a:p>
            <a:r>
              <a:rPr lang="en-US" sz="2800" dirty="0">
                <a:latin typeface="+mj-lt"/>
                <a:cs typeface="Courier New" panose="02070309020205020404" pitchFamily="49" charset="0"/>
              </a:rPr>
              <a:t>Internet Examples</a:t>
            </a:r>
          </a:p>
          <a:p>
            <a:pPr lvl="1"/>
            <a:r>
              <a:rPr lang="en-US" sz="2600" dirty="0">
                <a:latin typeface="+mj-lt"/>
                <a:cs typeface="Courier New" panose="02070309020205020404" pitchFamily="49" charset="0"/>
              </a:rPr>
              <a:t>Often include import statements</a:t>
            </a:r>
          </a:p>
          <a:p>
            <a:pPr lvl="1"/>
            <a:r>
              <a:rPr lang="en-US" sz="2600" dirty="0">
                <a:latin typeface="+mj-lt"/>
                <a:cs typeface="Courier New" panose="02070309020205020404" pitchFamily="49" charset="0"/>
              </a:rPr>
              <a:t>Sometimes forget 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25E65-9CF3-48A4-A040-8F6273636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A2F0F-2260-4F2C-ADB5-34756B778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E251E-1D18-427E-B8F7-D11E7D7CE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39746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7402A-1E56-40FB-B43F-2D86D40BC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Help is a click away</a:t>
            </a:r>
            <a:br>
              <a:rPr lang="en-US" b="1" dirty="0"/>
            </a:br>
            <a:r>
              <a:rPr lang="en-US" b="1" dirty="0"/>
              <a:t>Web searching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9BEBB-DE71-47B2-9CE0-FB05B843B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chemeClr val="accent1"/>
                </a:solidFill>
                <a:latin typeface="+mj-lt"/>
                <a:cs typeface="Courier New" panose="02070309020205020404" pitchFamily="49" charset="0"/>
              </a:rPr>
              <a:t>Try "python thingies …"</a:t>
            </a:r>
          </a:p>
          <a:p>
            <a:r>
              <a:rPr lang="en-US" sz="2800" dirty="0">
                <a:solidFill>
                  <a:schemeClr val="accent1"/>
                </a:solidFill>
                <a:latin typeface="+mj-lt"/>
                <a:cs typeface="Courier New" panose="02070309020205020404" pitchFamily="49" charset="0"/>
              </a:rPr>
              <a:t>E.g.</a:t>
            </a:r>
            <a:r>
              <a:rPr lang="en-US" sz="2800" dirty="0">
                <a:latin typeface="+mj-lt"/>
                <a:cs typeface="Courier New" panose="02070309020205020404" pitchFamily="49" charset="0"/>
              </a:rPr>
              <a:t> python random int between two numbers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  <a:latin typeface="+mj-lt"/>
                <a:cs typeface="Courier New" panose="02070309020205020404" pitchFamily="49" charset="0"/>
              </a:rPr>
              <a:t>Found:</a:t>
            </a:r>
            <a:r>
              <a:rPr lang="en-US" sz="28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00B0F0"/>
                </a:solidFill>
                <a:latin typeface="+mj-lt"/>
                <a:cs typeface="Courier New" panose="02070309020205020404" pitchFamily="49" charset="0"/>
              </a:rPr>
              <a:t>python - Generate random integers between 0 and 9 - Stack Overflow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  <a:latin typeface="+mj-lt"/>
                <a:cs typeface="Courier New" panose="02070309020205020404" pitchFamily="49" charset="0"/>
              </a:rPr>
              <a:t>GOT:</a:t>
            </a:r>
          </a:p>
          <a:p>
            <a:pPr marL="400050" lvl="1" indent="0">
              <a:buNone/>
            </a:pPr>
            <a:r>
              <a:rPr lang="en-US" sz="2600" dirty="0">
                <a:solidFill>
                  <a:srgbClr val="00B0F0"/>
                </a:solidFill>
                <a:latin typeface="+mj-lt"/>
                <a:cs typeface="Courier New" panose="02070309020205020404" pitchFamily="49" charset="0"/>
              </a:rPr>
              <a:t>Try:</a:t>
            </a:r>
          </a:p>
          <a:p>
            <a:pPr marL="800100" lvl="2" indent="0">
              <a:buNone/>
            </a:pPr>
            <a:r>
              <a:rPr lang="en-US" sz="24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random </a:t>
            </a:r>
            <a:r>
              <a:rPr lang="en-US" sz="2400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randint</a:t>
            </a:r>
          </a:p>
          <a:p>
            <a:pPr marL="800100" lvl="2" indent="0">
              <a:buNone/>
            </a:pPr>
            <a:r>
              <a:rPr lang="en-US" sz="2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(randint(0, 9))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25E65-9CF3-48A4-A040-8F6273636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A2F0F-2260-4F2C-ADB5-34756B778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E251E-1D18-427E-B8F7-D11E7D7CE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39757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7402A-1E56-40FB-B43F-2D86D40BC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Help is a click away</a:t>
            </a:r>
            <a:br>
              <a:rPr lang="en-US" b="1" dirty="0"/>
            </a:br>
            <a:r>
              <a:rPr lang="en-US" b="1" dirty="0"/>
              <a:t>Web searching - </a:t>
            </a:r>
            <a:r>
              <a:rPr lang="en-US" sz="2800" b="1" dirty="0"/>
              <a:t>continued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9BEBB-DE71-47B2-9CE0-FB05B843B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Be brief – search algorithms are pretty good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First code </a:t>
            </a:r>
            <a:r>
              <a:rPr lang="en-US" sz="2800" i="1" dirty="0">
                <a:latin typeface="Courier New" panose="02070309020205020404" pitchFamily="49" charset="0"/>
                <a:cs typeface="Courier New" panose="02070309020205020404" pitchFamily="49" charset="0"/>
              </a:rPr>
              <a:t>may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be 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wrong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lvl="1"/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Someone saying Did this … didn't work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Stackoverflow.com</a:t>
            </a:r>
          </a:p>
          <a:p>
            <a:pPr marL="800100" lvl="2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Question…</a:t>
            </a:r>
          </a:p>
          <a:p>
            <a:pPr marL="800100" lvl="2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Answer…</a:t>
            </a:r>
          </a:p>
          <a:p>
            <a:pPr marL="800100" lvl="2" indent="0">
              <a:buNone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Checkmark –</a:t>
            </a:r>
            <a:r>
              <a:rPr 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accepted answer</a:t>
            </a:r>
          </a:p>
          <a:p>
            <a:pPr marL="800100" lvl="2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Answer…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25E65-9CF3-48A4-A040-8F6273636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A2F0F-2260-4F2C-ADB5-34756B778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E251E-1D18-427E-B8F7-D11E7D7CE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59018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8094A-CCF6-43B0-9158-B27C4EDB6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Samples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1D61-DB2E-4CB3-87D4-A2B5579D4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689" y="2160589"/>
            <a:ext cx="9757316" cy="3880773"/>
          </a:xfrm>
        </p:spPr>
        <p:txBody>
          <a:bodyPr>
            <a:normAutofit/>
          </a:bodyPr>
          <a:lstStyle/>
          <a:p>
            <a:r>
              <a:rPr lang="en-US" sz="4000" dirty="0"/>
              <a:t>exercises/functions/figures/</a:t>
            </a:r>
          </a:p>
          <a:p>
            <a:pPr lvl="1"/>
            <a:r>
              <a:rPr lang="en-US" sz="3800" dirty="0"/>
              <a:t>my_square.py</a:t>
            </a:r>
          </a:p>
          <a:p>
            <a:r>
              <a:rPr lang="en-US" sz="4000" dirty="0"/>
              <a:t>presentation/</a:t>
            </a:r>
          </a:p>
          <a:p>
            <a:pPr lvl="1"/>
            <a:r>
              <a:rPr lang="en-US" sz="3800" dirty="0"/>
              <a:t>shapes_simple.py</a:t>
            </a:r>
          </a:p>
          <a:p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54284-1399-4E24-8B30-7C177902F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9916-CD40-456D-ABE3-55F8822671F7}" type="datetime1">
              <a:rPr lang="en-US" smtClean="0"/>
              <a:t>8/13/2024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CD908-12BA-4784-A19F-7962710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3A8AB-A9C3-4436-90E0-C645D734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8466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0694-AA7F-451B-A875-1D23D1FDB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892" y="2723015"/>
            <a:ext cx="8596668" cy="1320800"/>
          </a:xfrm>
        </p:spPr>
        <p:txBody>
          <a:bodyPr>
            <a:normAutofit/>
          </a:bodyPr>
          <a:lstStyle/>
          <a:p>
            <a:r>
              <a:rPr lang="en-US" sz="6600" dirty="0"/>
              <a:t>Question and Answer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3EE2F-E3E9-437B-AFAE-1E0C5C94A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119916-CD40-456D-ABE3-55F8822671F7}" type="datetime1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8/13/2024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D04EE-5AD0-4A57-A42E-AE62E411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raysmith@alum.mit.edu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1C448-36A8-43E6-A891-6E42F22D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018072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Facet">
    <a:dk1>
      <a:sysClr val="windowText" lastClr="000000"/>
    </a:dk1>
    <a:lt1>
      <a:sysClr val="window" lastClr="FFFFFF"/>
    </a:lt1>
    <a:dk2>
      <a:srgbClr val="2C3C43"/>
    </a:dk2>
    <a:lt2>
      <a:srgbClr val="EBEBEB"/>
    </a:lt2>
    <a:accent1>
      <a:srgbClr val="90C226"/>
    </a:accent1>
    <a:accent2>
      <a:srgbClr val="54A021"/>
    </a:accent2>
    <a:accent3>
      <a:srgbClr val="E6B91E"/>
    </a:accent3>
    <a:accent4>
      <a:srgbClr val="E76618"/>
    </a:accent4>
    <a:accent5>
      <a:srgbClr val="C42F1A"/>
    </a:accent5>
    <a:accent6>
      <a:srgbClr val="918655"/>
    </a:accent6>
    <a:hlink>
      <a:srgbClr val="99CA3C"/>
    </a:hlink>
    <a:folHlink>
      <a:srgbClr val="B9D181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22748</TotalTime>
  <Words>3199</Words>
  <Application>Microsoft Office PowerPoint</Application>
  <PresentationFormat>Widescreen</PresentationFormat>
  <Paragraphs>670</Paragraphs>
  <Slides>53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Arial</vt:lpstr>
      <vt:lpstr>Calibri</vt:lpstr>
      <vt:lpstr>Courier New</vt:lpstr>
      <vt:lpstr>Trebuchet MS</vt:lpstr>
      <vt:lpstr>Wingdings 3</vt:lpstr>
      <vt:lpstr>Facet</vt:lpstr>
      <vt:lpstr>Session #2 Ideas, Tools, Functions  </vt:lpstr>
      <vt:lpstr>Programming Ideas – Take a step back</vt:lpstr>
      <vt:lpstr>Programming Concepts </vt:lpstr>
      <vt:lpstr>Similar Activities </vt:lpstr>
      <vt:lpstr>Like Computer Programming,  They do / have</vt:lpstr>
      <vt:lpstr>Unlike Computer Programming, they have / are</vt:lpstr>
      <vt:lpstr>What's Easy in Programming – No so physical </vt:lpstr>
      <vt:lpstr>What's Not So Easy – Not so physical</vt:lpstr>
      <vt:lpstr>Python Tools and Rules - More Python Details… </vt:lpstr>
      <vt:lpstr>What is Python – continued - Tools…</vt:lpstr>
      <vt:lpstr>Python Tools - Decisions</vt:lpstr>
      <vt:lpstr>Python Tools - Looping</vt:lpstr>
      <vt:lpstr>Python Tools - Looping</vt:lpstr>
      <vt:lpstr>Lists - Ordered group    lists/colors.py</vt:lpstr>
      <vt:lpstr>range() – sequence – like a list of numbers</vt:lpstr>
      <vt:lpstr>List / Range Samples</vt:lpstr>
      <vt:lpstr>Functions – Divide and Conquer</vt:lpstr>
      <vt:lpstr>Functions – Train Model - Calling</vt:lpstr>
      <vt:lpstr>Functions – Train Model – Function Body</vt:lpstr>
      <vt:lpstr>Functions – Used</vt:lpstr>
      <vt:lpstr>Functions (you write) – Defined</vt:lpstr>
      <vt:lpstr>Functions – Parameters</vt:lpstr>
      <vt:lpstr>Functions (you write) – Example</vt:lpstr>
      <vt:lpstr>Function graphic example </vt:lpstr>
      <vt:lpstr>Functions – Keyword parameters</vt:lpstr>
      <vt:lpstr>Functions – Keyword parameters  continued</vt:lpstr>
      <vt:lpstr>A Quick Review of Python</vt:lpstr>
      <vt:lpstr>A Quick Review of Python - continue</vt:lpstr>
      <vt:lpstr>A Quick Review of Python - continued</vt:lpstr>
      <vt:lpstr>A Quick Review of Python - continued</vt:lpstr>
      <vt:lpstr>A Quick Review of Python - continued</vt:lpstr>
      <vt:lpstr>A Quick Review of Python - continued</vt:lpstr>
      <vt:lpstr>A Quick Review of Python - continued</vt:lpstr>
      <vt:lpstr>A Quick Review Python - continued</vt:lpstr>
      <vt:lpstr>A Quick Review of Python - continued</vt:lpstr>
      <vt:lpstr>Python Language - continued</vt:lpstr>
      <vt:lpstr>Python Language – print function</vt:lpstr>
      <vt:lpstr>Python Language - Testing</vt:lpstr>
      <vt:lpstr>Python Language – Looping - while</vt:lpstr>
      <vt:lpstr>Python Language – Looping - for</vt:lpstr>
      <vt:lpstr>Python Language – input function</vt:lpstr>
      <vt:lpstr>Thinking of Iterations - Show progress </vt:lpstr>
      <vt:lpstr>Sample Program Iterations for Twenty Questions Project</vt:lpstr>
      <vt:lpstr>Think of the Iterations - continued</vt:lpstr>
      <vt:lpstr>More Python – Variables Places to store values </vt:lpstr>
      <vt:lpstr>Python Language Guidelines with some exceptions </vt:lpstr>
      <vt:lpstr>Python Language Guidelines - continued </vt:lpstr>
      <vt:lpstr>Python Language Guidelines - continued </vt:lpstr>
      <vt:lpstr>Python import Bring in support </vt:lpstr>
      <vt:lpstr>Help is a click away Web searching</vt:lpstr>
      <vt:lpstr>Help is a click away Web searching - continued</vt:lpstr>
      <vt:lpstr>Summary Samples Review</vt:lpstr>
      <vt:lpstr>Question and Answer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Charles Smith</dc:creator>
  <cp:lastModifiedBy>Charles Smith</cp:lastModifiedBy>
  <cp:revision>49</cp:revision>
  <dcterms:created xsi:type="dcterms:W3CDTF">2021-08-10T17:56:28Z</dcterms:created>
  <dcterms:modified xsi:type="dcterms:W3CDTF">2024-08-14T13:25:00Z</dcterms:modified>
</cp:coreProperties>
</file>