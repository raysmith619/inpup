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355" r:id="rId3"/>
    <p:sldId id="277" r:id="rId4"/>
    <p:sldId id="270" r:id="rId5"/>
    <p:sldId id="356" r:id="rId6"/>
    <p:sldId id="312" r:id="rId7"/>
    <p:sldId id="412" r:id="rId8"/>
    <p:sldId id="413" r:id="rId9"/>
    <p:sldId id="416" r:id="rId10"/>
    <p:sldId id="414" r:id="rId11"/>
    <p:sldId id="428" r:id="rId12"/>
    <p:sldId id="429" r:id="rId13"/>
    <p:sldId id="431" r:id="rId14"/>
    <p:sldId id="430" r:id="rId15"/>
    <p:sldId id="417" r:id="rId16"/>
    <p:sldId id="415" r:id="rId17"/>
    <p:sldId id="427" r:id="rId18"/>
    <p:sldId id="432" r:id="rId19"/>
    <p:sldId id="433" r:id="rId20"/>
    <p:sldId id="434" r:id="rId21"/>
    <p:sldId id="435" r:id="rId22"/>
    <p:sldId id="436" r:id="rId23"/>
    <p:sldId id="403" r:id="rId24"/>
    <p:sldId id="43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6" autoAdjust="0"/>
    <p:restoredTop sz="94639" autoAdjust="0"/>
  </p:normalViewPr>
  <p:slideViewPr>
    <p:cSldViewPr snapToGrid="0">
      <p:cViewPr varScale="1">
        <p:scale>
          <a:sx n="80" d="100"/>
          <a:sy n="80" d="100"/>
        </p:scale>
        <p:origin x="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D2E9F-587F-4929-A615-D1B22C008AE4}" type="datetimeFigureOut">
              <a:rPr lang="en-US" smtClean="0"/>
              <a:t>12/26/2022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D4E80-AAF7-4841-B2F0-A647B649A6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08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261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Non-programmers benefit from an understanding of programming.</a:t>
            </a:r>
          </a:p>
          <a:p>
            <a:r>
              <a:rPr lang="en-US" dirty="0"/>
              <a:t>What do you want from this course?</a:t>
            </a:r>
          </a:p>
          <a:p>
            <a:r>
              <a:rPr lang="en-US" dirty="0"/>
              <a:t>What do you want from programming?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43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would you like to know about me?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933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try enabling video for speaker(s)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64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431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914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876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212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5923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54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3912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579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06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4818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091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330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3201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143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774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755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370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850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F5501-EE91-4443-9D3B-24E6F28D34E2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0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3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13D6-B8C2-463B-B3F7-C62E098B328E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9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3420-31EE-4E4B-911C-2601B14D9FDD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99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986D-86F8-41E6-8CFF-8C91AEF92622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5161-032E-4C6A-8EDA-39D168DF18E4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6740-E523-48D9-9C4E-6F218E87BAF3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39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D4CA-FF09-4CB8-8D51-2613D19A0F2E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79EA-AEA7-43B3-9B65-A77E9A890421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9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E1E9-8456-43AD-BA28-861520D256B9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1E0C-AAFD-4E63-B3AE-16CD757951F4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8882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84FF-4715-4B6E-BD22-453621E5873F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35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7F8D-4DF5-4AB6-A766-5A84B3D74A3B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6616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3CD1A-162D-40B2-9B22-9056F77C27F2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7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4200-B1E5-4E39-8279-05DD69810A37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86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895-00AC-42E5-9790-7B0E3CE09DF2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8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67F1-3EA0-4026-BE6A-31EE4E1B1DB5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1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ysmith@alum.mi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aysmith@alum.mit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tutorial.net/tkinter/tkinter-hello-world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A52B-07F3-428A-AE74-138A34034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447800"/>
            <a:ext cx="7766936" cy="2484120"/>
          </a:xfrm>
        </p:spPr>
        <p:txBody>
          <a:bodyPr/>
          <a:lstStyle/>
          <a:p>
            <a:pPr algn="ctr"/>
            <a:r>
              <a:rPr lang="en-US" sz="6000" i="1" dirty="0"/>
              <a:t>Graphics</a:t>
            </a:r>
            <a:r>
              <a:rPr lang="en-US" sz="6000" dirty="0"/>
              <a:t> Programming Introduction Using Python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978A9-2CA9-49C2-9073-C0526E7E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E55C-CECE-4F47-839C-0667B2307420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7784B-1224-4A1C-9D1F-2F39A761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A865C-3D2F-422B-BE43-A53DD0E6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raysmith@alum.mit.edu</a:t>
            </a:r>
            <a:r>
              <a:rPr lang="en-US" dirty="0"/>
              <a:t>	</a:t>
            </a:r>
            <a:r>
              <a:rPr lang="en-US" sz="900" dirty="0">
                <a:solidFill>
                  <a:schemeClr val="accent1"/>
                </a:solidFill>
              </a:rPr>
              <a:t>Session #1  Introduction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31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7A9-C99B-4AA3-B223-455230B37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93" y="662940"/>
            <a:ext cx="8596668" cy="784860"/>
          </a:xfrm>
        </p:spPr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CD65-FDE0-45AB-8C92-688A07CCC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078507" cy="4447886"/>
          </a:xfrm>
        </p:spPr>
        <p:txBody>
          <a:bodyPr/>
          <a:lstStyle/>
          <a:p>
            <a:r>
              <a:rPr lang="en-US" sz="4000" dirty="0"/>
              <a:t>Graphics for those new to Graphics</a:t>
            </a:r>
          </a:p>
          <a:p>
            <a:r>
              <a:rPr lang="en-US" sz="4000" dirty="0"/>
              <a:t>Demonstrate Operations / Methods</a:t>
            </a:r>
          </a:p>
          <a:p>
            <a:r>
              <a:rPr lang="en-US" sz="4000" dirty="0"/>
              <a:t>Enable / Energize</a:t>
            </a:r>
          </a:p>
          <a:p>
            <a:endParaRPr lang="en-US" sz="4000" dirty="0"/>
          </a:p>
          <a:p>
            <a:r>
              <a:rPr lang="en-US" sz="4000" dirty="0">
                <a:solidFill>
                  <a:schemeClr val="accent2"/>
                </a:solidFill>
              </a:rPr>
              <a:t>Learning</a:t>
            </a:r>
            <a:r>
              <a:rPr lang="en-US" sz="4000" dirty="0"/>
              <a:t> by </a:t>
            </a:r>
            <a:r>
              <a:rPr lang="en-US" sz="4000" dirty="0">
                <a:solidFill>
                  <a:schemeClr val="accent2"/>
                </a:solidFill>
              </a:rPr>
              <a:t>DOING – Have Fun!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64DA-0813-483A-8A64-71924345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17F33E47-61B9-4B4D-8325-8788C9EC3005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3744-B960-4FDC-9100-33AFA22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AF28DD-11BC-43F5-9F29-84518C3B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>
                <a:hlinkClick r:id="rId3"/>
              </a:rPr>
              <a:t>raysmith@alum.mit.edu</a:t>
            </a:r>
            <a:r>
              <a:rPr lang="en-US" dirty="0"/>
              <a:t>	</a:t>
            </a:r>
            <a:r>
              <a:rPr lang="en-US" sz="900" dirty="0">
                <a:solidFill>
                  <a:schemeClr val="accent1"/>
                </a:solidFill>
              </a:rPr>
              <a:t> Session #1  Introduction  Touching on the topic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8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6E00-835A-4B5B-AFDF-9AF87390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Instructor – Ray Smith raysmith@alum.mit.edu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E49C-1AF0-40D7-BD12-D2153566B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Many years of Programming – engineering, scientific, financial</a:t>
            </a:r>
          </a:p>
          <a:p>
            <a:r>
              <a:rPr lang="en-US" sz="3600" dirty="0"/>
              <a:t>Commercial, Scientific, Systems</a:t>
            </a:r>
          </a:p>
          <a:p>
            <a:r>
              <a:rPr lang="en-US" sz="3600" dirty="0"/>
              <a:t>Languages – C, C++, Perl, Java, Python, Assembly</a:t>
            </a:r>
          </a:p>
          <a:p>
            <a:r>
              <a:rPr lang="en-US" sz="3600" dirty="0"/>
              <a:t>NEW Areas - Games for young 3+ years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6595F-9930-4D44-BB3E-70490058B4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B428F5A7-20F3-4981-866F-DD0AA3B623E8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0A2BB-609F-4663-9624-CF5B6F7B3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70CECB9-8420-4DCA-9BA9-5BE8C789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  <a:r>
              <a:rPr lang="en-US" sz="900" dirty="0">
                <a:solidFill>
                  <a:schemeClr val="accent1"/>
                </a:solidFill>
              </a:rPr>
              <a:t> 	Session #1  Introduction  Touching on the topic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0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7A9-C99B-4AA3-B223-455230B3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Online Class – Using Zoom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CD65-FDE0-45AB-8C92-688A07CCC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If any background noise, please mute – minimizes cumulative noise</a:t>
            </a:r>
          </a:p>
          <a:p>
            <a:r>
              <a:rPr lang="en-US" sz="3600" dirty="0"/>
              <a:t>Disable own video – too many reduces clarity- </a:t>
            </a:r>
            <a:r>
              <a:rPr lang="en-US" sz="3600" b="1" dirty="0"/>
              <a:t>Unless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0070C0"/>
                </a:solidFill>
              </a:rPr>
              <a:t>ASKING A QUESTION</a:t>
            </a:r>
          </a:p>
          <a:p>
            <a:r>
              <a:rPr lang="en-US" sz="3600" dirty="0"/>
              <a:t>Can question via Chat – can be to ALL</a:t>
            </a:r>
          </a:p>
          <a:p>
            <a:r>
              <a:rPr lang="en-US" sz="3600" dirty="0"/>
              <a:t>Expecting Response: Start "QUESTION:"</a:t>
            </a:r>
          </a:p>
          <a:p>
            <a:endParaRPr lang="en-US" sz="36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64DA-0813-483A-8A64-71924345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17F33E47-61B9-4B4D-8325-8788C9EC3005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3744-B960-4FDC-9100-33AFA22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AF28DD-11BC-43F5-9F29-84518C3B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  <a:r>
              <a:rPr lang="en-US" sz="900" dirty="0">
                <a:solidFill>
                  <a:schemeClr val="accent1"/>
                </a:solidFill>
              </a:rPr>
              <a:t>	Session #1  Introduction  Touching on the topic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1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 Session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0983"/>
            <a:ext cx="8596668" cy="4420380"/>
          </a:xfrm>
        </p:spPr>
        <p:txBody>
          <a:bodyPr>
            <a:noAutofit/>
          </a:bodyPr>
          <a:lstStyle/>
          <a:p>
            <a:pPr lvl="2"/>
            <a:r>
              <a:rPr lang="en-US" sz="3200" dirty="0"/>
              <a:t>Lecture and practice: 1.5 Hours</a:t>
            </a:r>
          </a:p>
          <a:p>
            <a:pPr lvl="3"/>
            <a:r>
              <a:rPr lang="en-US" sz="3000" dirty="0"/>
              <a:t>Follow-up Questions: .5 Hours</a:t>
            </a:r>
          </a:p>
          <a:p>
            <a:pPr lvl="2"/>
            <a:r>
              <a:rPr lang="en-US" sz="3200" dirty="0"/>
              <a:t>Similar to Programming – This Course</a:t>
            </a:r>
            <a:endParaRPr lang="en-US" sz="3000" dirty="0"/>
          </a:p>
          <a:p>
            <a:pPr lvl="3"/>
            <a:r>
              <a:rPr lang="en-US" sz="3000" dirty="0"/>
              <a:t>Skips, Repeats / Revisits </a:t>
            </a:r>
          </a:p>
          <a:p>
            <a:pPr lvl="2"/>
            <a:r>
              <a:rPr lang="en-US" sz="3400" dirty="0"/>
              <a:t>Student Guideline:</a:t>
            </a:r>
          </a:p>
          <a:p>
            <a:pPr lvl="3"/>
            <a:r>
              <a:rPr lang="en-US" sz="2800" dirty="0"/>
              <a:t>If you know it – Have Patience</a:t>
            </a:r>
          </a:p>
          <a:p>
            <a:pPr lvl="3"/>
            <a:r>
              <a:rPr lang="en-US" sz="2800" dirty="0"/>
              <a:t>If </a:t>
            </a:r>
            <a:r>
              <a:rPr lang="en-US" sz="2800" b="1" dirty="0">
                <a:solidFill>
                  <a:srgbClr val="002060"/>
                </a:solidFill>
              </a:rPr>
              <a:t>confused</a:t>
            </a:r>
            <a:r>
              <a:rPr lang="en-US" sz="2800" dirty="0"/>
              <a:t> / </a:t>
            </a:r>
            <a:r>
              <a:rPr lang="en-US" sz="2800" b="1" dirty="0">
                <a:solidFill>
                  <a:srgbClr val="002060"/>
                </a:solidFill>
              </a:rPr>
              <a:t>unsure</a:t>
            </a:r>
            <a:r>
              <a:rPr lang="en-US" sz="2800" dirty="0"/>
              <a:t> – </a:t>
            </a:r>
            <a:r>
              <a:rPr lang="en-US" sz="2800" b="1" dirty="0">
                <a:solidFill>
                  <a:srgbClr val="002060"/>
                </a:solidFill>
              </a:rPr>
              <a:t>ASK A QUESTION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0B07C6D0-642C-4A40-B0F1-13ED56048173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  <a:r>
              <a:rPr lang="en-US" sz="900" dirty="0">
                <a:solidFill>
                  <a:schemeClr val="accent1"/>
                </a:solidFill>
              </a:rPr>
              <a:t>	Session #1  Introduction  Touching on the topic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7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Graphics: Display / Control beyond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1357"/>
            <a:ext cx="8596668" cy="4630005"/>
          </a:xfrm>
        </p:spPr>
        <p:txBody>
          <a:bodyPr>
            <a:normAutofit/>
          </a:bodyPr>
          <a:lstStyle/>
          <a:p>
            <a:r>
              <a:rPr lang="en-US" sz="3600" dirty="0"/>
              <a:t>A number of choices</a:t>
            </a:r>
          </a:p>
          <a:p>
            <a:pPr lvl="1"/>
            <a:r>
              <a:rPr lang="en-US" sz="3400" dirty="0"/>
              <a:t> tkinter (shipped with python)</a:t>
            </a:r>
          </a:p>
          <a:p>
            <a:pPr lvl="1"/>
            <a:r>
              <a:rPr lang="en-US" sz="3400" dirty="0"/>
              <a:t> wxPython (must be installed)</a:t>
            </a:r>
          </a:p>
          <a:p>
            <a:r>
              <a:rPr lang="en-US" sz="3600" dirty="0"/>
              <a:t>tkinter—interface to Tcl/Tk</a:t>
            </a:r>
          </a:p>
          <a:p>
            <a:pPr lvl="1"/>
            <a:r>
              <a:rPr lang="en-US" sz="3400" dirty="0"/>
              <a:t>Shipped with Python</a:t>
            </a:r>
          </a:p>
          <a:p>
            <a:pPr lvl="1"/>
            <a:r>
              <a:rPr lang="en-US" sz="3400" dirty="0"/>
              <a:t>Good example of Ideas</a:t>
            </a:r>
          </a:p>
          <a:p>
            <a:pPr lvl="1"/>
            <a:r>
              <a:rPr lang="en-US" sz="3400" dirty="0"/>
              <a:t>Similar across languages</a:t>
            </a:r>
          </a:p>
          <a:p>
            <a:pPr lvl="1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97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r>
              <a:rPr lang="en-US" sz="3600" dirty="0"/>
              <a:t>Event driven</a:t>
            </a:r>
          </a:p>
          <a:p>
            <a:pPr lvl="1"/>
            <a:r>
              <a:rPr lang="en-US" sz="3400" dirty="0"/>
              <a:t>Action happens when events occur</a:t>
            </a:r>
          </a:p>
          <a:p>
            <a:pPr lvl="2"/>
            <a:r>
              <a:rPr lang="en-US" sz="3200" dirty="0"/>
              <a:t>Mouse clicks, time passing</a:t>
            </a:r>
          </a:p>
          <a:p>
            <a:r>
              <a:rPr lang="en-US" sz="3600" dirty="0"/>
              <a:t>Object Oriented</a:t>
            </a:r>
          </a:p>
          <a:p>
            <a:pPr lvl="1"/>
            <a:r>
              <a:rPr lang="en-US" sz="3400" dirty="0"/>
              <a:t>Programming is done in parts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607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Creating a window</a:t>
            </a:r>
            <a:br>
              <a:rPr lang="en-US" dirty="0"/>
            </a:br>
            <a:r>
              <a:rPr lang="en-US" sz="2400" dirty="0"/>
              <a:t>exercises/graphics/my_window.py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US" sz="3200" dirty="0"/>
              <a:t>import tkinter as tk</a:t>
            </a:r>
          </a:p>
          <a:p>
            <a:pPr marL="914400" lvl="2" indent="0">
              <a:buNone/>
            </a:pPr>
            <a:endParaRPr lang="en-US" sz="3200" dirty="0"/>
          </a:p>
          <a:p>
            <a:pPr marL="914400" lvl="2" indent="0">
              <a:buNone/>
            </a:pPr>
            <a:r>
              <a:rPr lang="en-US" sz="3200" dirty="0"/>
              <a:t>root = tk.Tk()</a:t>
            </a:r>
          </a:p>
          <a:p>
            <a:pPr marL="914400" lvl="2" indent="0">
              <a:buNone/>
            </a:pPr>
            <a:r>
              <a:rPr lang="en-US" sz="3200" dirty="0"/>
              <a:t>root.mainloop()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82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Simple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r>
              <a:rPr lang="en-US" sz="3600" dirty="0"/>
              <a:t>Simple "Hello" program</a:t>
            </a:r>
          </a:p>
          <a:p>
            <a:pPr lvl="1"/>
            <a:r>
              <a:rPr lang="en-US" sz="3400" dirty="0"/>
              <a:t>exercises/graphics/gr_hello.py</a:t>
            </a:r>
          </a:p>
          <a:p>
            <a:r>
              <a:rPr lang="en-US" sz="3600" dirty="0"/>
              <a:t>Get input</a:t>
            </a:r>
          </a:p>
          <a:p>
            <a:pPr lvl="1"/>
            <a:r>
              <a:rPr lang="en-US" sz="3400" dirty="0"/>
              <a:t>exercises/graphics/gr_input.py</a:t>
            </a:r>
          </a:p>
          <a:p>
            <a:pPr lvl="1"/>
            <a:r>
              <a:rPr lang="en-US" sz="3400" dirty="0"/>
              <a:t>Exercises/graphics/gr_input_test.py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617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graphics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83242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/>
              <a:t>Frame – Holder, can hold other Frames</a:t>
            </a:r>
          </a:p>
          <a:p>
            <a:pPr marL="971550" lvl="1" indent="-457200"/>
            <a:r>
              <a:rPr lang="en-US" sz="3400" dirty="0"/>
              <a:t>Label – Has text / picture</a:t>
            </a:r>
          </a:p>
          <a:p>
            <a:pPr marL="971550" lvl="1" indent="-457200"/>
            <a:r>
              <a:rPr lang="en-US" sz="3400" dirty="0"/>
              <a:t>Button – Accepts mouse control (click)</a:t>
            </a:r>
          </a:p>
          <a:p>
            <a:pPr marL="971550" lvl="1" indent="-457200"/>
            <a:r>
              <a:rPr lang="en-US" sz="3400" dirty="0"/>
              <a:t>Entry - Input</a:t>
            </a:r>
          </a:p>
          <a:p>
            <a:pPr marL="971550" lvl="1" indent="-457200"/>
            <a:r>
              <a:rPr lang="en-US" sz="3400" dirty="0"/>
              <a:t>Text – holds free text</a:t>
            </a:r>
          </a:p>
          <a:p>
            <a:pPr marL="971550" lvl="1" indent="-457200"/>
            <a:r>
              <a:rPr lang="en-US" sz="3400" dirty="0"/>
              <a:t>Scrollbar – scrolling through large areas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438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83242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Holder (placer) of graphic objects</a:t>
            </a:r>
          </a:p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Example – </a:t>
            </a:r>
            <a:r>
              <a:rPr lang="en-US" sz="3400" dirty="0">
                <a:solidFill>
                  <a:schemeClr val="accent2"/>
                </a:solidFill>
              </a:rPr>
              <a:t>AFTER we show </a:t>
            </a:r>
            <a:r>
              <a:rPr lang="en-US" sz="3400" dirty="0">
                <a:solidFill>
                  <a:schemeClr val="tx1"/>
                </a:solidFill>
              </a:rPr>
              <a:t>some thing to put in the frame</a:t>
            </a:r>
          </a:p>
          <a:p>
            <a:pPr marL="971550" lvl="1" indent="-457200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261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Label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83242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Displays Text / Picture</a:t>
            </a:r>
          </a:p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Often precedes an entry</a:t>
            </a: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exercises/graphics/my_label.py</a:t>
            </a:r>
          </a:p>
          <a:p>
            <a:pPr marL="971550" lvl="1" indent="-457200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5810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Frame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83242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Nesting Facilitates Arrangement</a:t>
            </a:r>
          </a:p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Takes some practice</a:t>
            </a: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exercises/graphics/my_frame.py</a:t>
            </a:r>
          </a:p>
          <a:p>
            <a:pPr marL="971550" lvl="1" indent="-457200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239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Entry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83242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Accepts text from user</a:t>
            </a:r>
          </a:p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Often preceded by Label</a:t>
            </a: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exercises/graphics/my_label_entry.py</a:t>
            </a:r>
          </a:p>
          <a:p>
            <a:pPr marL="971550" lvl="1" indent="-457200"/>
            <a:endParaRPr lang="en-US" sz="3400" dirty="0">
              <a:solidFill>
                <a:srgbClr val="92D05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833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008210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accent1"/>
                </a:solidFill>
              </a:rPr>
              <a:t>Click and get an action</a:t>
            </a: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exercises/graphics/my_button.py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674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r>
              <a:rPr lang="en-US" sz="3600" dirty="0"/>
              <a:t>Event driven</a:t>
            </a:r>
          </a:p>
          <a:p>
            <a:r>
              <a:rPr lang="en-US" sz="3600" dirty="0"/>
              <a:t>Object Oriented</a:t>
            </a:r>
          </a:p>
          <a:p>
            <a:r>
              <a:rPr lang="en-US" sz="3600" dirty="0"/>
              <a:t>Simple tkinter tutorial: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070C0"/>
                </a:solidFill>
                <a:hlinkClick r:id="rId3"/>
              </a:rPr>
              <a:t>https://www.pythontutorial.net/tkinter/tkinter-hello-world/</a:t>
            </a:r>
            <a:endParaRPr lang="en-US" sz="36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3600" dirty="0">
              <a:solidFill>
                <a:srgbClr val="0070C0"/>
              </a:solidFill>
            </a:endParaRPr>
          </a:p>
          <a:p>
            <a:pPr lvl="1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499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program example</a:t>
            </a:r>
            <a:br>
              <a:rPr lang="en-US" dirty="0"/>
            </a:br>
            <a:r>
              <a:rPr lang="en-US" dirty="0"/>
              <a:t>simple text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Display file lines containing pattern</a:t>
            </a:r>
          </a:p>
          <a:p>
            <a:pPr lvl="1"/>
            <a:r>
              <a:rPr lang="en-US" sz="3400" dirty="0">
                <a:solidFill>
                  <a:schemeClr val="tx1"/>
                </a:solidFill>
              </a:rPr>
              <a:t>Terminal based</a:t>
            </a:r>
            <a:r>
              <a:rPr lang="en-US" sz="3400" dirty="0">
                <a:solidFill>
                  <a:schemeClr val="accent1"/>
                </a:solidFill>
              </a:rPr>
              <a:t> </a:t>
            </a:r>
          </a:p>
          <a:p>
            <a:pPr marL="914400" lvl="2" indent="0">
              <a:buNone/>
            </a:pPr>
            <a:r>
              <a:rPr lang="en-US" sz="3200" dirty="0">
                <a:solidFill>
                  <a:srgbClr val="00B0F0"/>
                </a:solidFill>
              </a:rPr>
              <a:t>exercises/files/notes/notes_3e.py</a:t>
            </a:r>
          </a:p>
          <a:p>
            <a:pPr lvl="1"/>
            <a:r>
              <a:rPr lang="en-US" sz="3400" dirty="0">
                <a:solidFill>
                  <a:schemeClr val="tx1"/>
                </a:solidFill>
              </a:rPr>
              <a:t>Graphics version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rgbClr val="00B0F0"/>
                </a:solidFill>
              </a:rPr>
              <a:t>	</a:t>
            </a:r>
            <a:r>
              <a:rPr lang="en-US" sz="3200" dirty="0">
                <a:solidFill>
                  <a:srgbClr val="00B0F0"/>
                </a:solidFill>
              </a:rPr>
              <a:t>exercises/graphics/notes_graphics.py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rgbClr val="00B0F0"/>
                </a:solidFill>
              </a:rPr>
              <a:t>	exercises/graphics/notes_data_win.py</a:t>
            </a:r>
          </a:p>
          <a:p>
            <a:pPr lvl="1"/>
            <a:endParaRPr lang="en-US" sz="34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692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8024"/>
          </a:xfrm>
        </p:spPr>
        <p:txBody>
          <a:bodyPr/>
          <a:lstStyle/>
          <a:p>
            <a:r>
              <a:rPr lang="en-US" dirty="0"/>
              <a:t>Graphics widgets - Menu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941" y="1892410"/>
            <a:ext cx="10082106" cy="4031312"/>
          </a:xfrm>
        </p:spPr>
        <p:txBody>
          <a:bodyPr>
            <a:normAutofit/>
          </a:bodyPr>
          <a:lstStyle/>
          <a:p>
            <a:pPr marL="514350" lvl="1" indent="0">
              <a:buNone/>
            </a:pPr>
            <a:r>
              <a:rPr lang="en-US" sz="3400" dirty="0">
                <a:solidFill>
                  <a:schemeClr val="accent1"/>
                </a:solidFill>
              </a:rPr>
              <a:t>The Front of many GUI programs</a:t>
            </a:r>
          </a:p>
          <a:p>
            <a:pPr marL="971550" lvl="1" indent="-457200"/>
            <a:r>
              <a:rPr lang="en-US" sz="3400" dirty="0">
                <a:solidFill>
                  <a:schemeClr val="accent1"/>
                </a:solidFill>
              </a:rPr>
              <a:t>Simple example</a:t>
            </a:r>
          </a:p>
          <a:p>
            <a:pPr marL="1371600" lvl="2" indent="-457200"/>
            <a:r>
              <a:rPr lang="en-US" sz="3200" dirty="0">
                <a:solidFill>
                  <a:srgbClr val="00B0F0"/>
                </a:solidFill>
              </a:rPr>
              <a:t>exercises/graphics/my_menu.py</a:t>
            </a:r>
          </a:p>
          <a:p>
            <a:pPr marL="971550" lvl="1" indent="-457200"/>
            <a:r>
              <a:rPr lang="en-US" sz="3400" dirty="0">
                <a:solidFill>
                  <a:schemeClr val="accent1"/>
                </a:solidFill>
              </a:rPr>
              <a:t>Multiple menus</a:t>
            </a:r>
          </a:p>
          <a:p>
            <a:pPr marL="1371600" lvl="2" indent="-457200"/>
            <a:r>
              <a:rPr lang="en-US" sz="3200" dirty="0">
                <a:solidFill>
                  <a:srgbClr val="00B0F0"/>
                </a:solidFill>
              </a:rPr>
              <a:t>exercises/graphics/my_menu_mult.py</a:t>
            </a:r>
          </a:p>
          <a:p>
            <a:pPr marL="1371600" lvl="2" indent="-457200"/>
            <a:r>
              <a:rPr lang="en-US" sz="3200" dirty="0">
                <a:solidFill>
                  <a:srgbClr val="00B0F0"/>
                </a:solidFill>
              </a:rPr>
              <a:t>exercises/graphics/my_menu_mult_large.py</a:t>
            </a:r>
          </a:p>
          <a:p>
            <a:pPr marL="1371600" lvl="2" indent="-457200"/>
            <a:endParaRPr lang="en-US" sz="3200" dirty="0">
              <a:solidFill>
                <a:srgbClr val="00B0F0"/>
              </a:solidFill>
            </a:endParaRPr>
          </a:p>
          <a:p>
            <a:pPr marL="971550" lvl="1" indent="-457200"/>
            <a:endParaRPr lang="en-US" sz="3400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545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Canvas drawings/figures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008210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exercises/graphics/canvas_items.py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438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0580"/>
          </a:xfrm>
        </p:spPr>
        <p:txBody>
          <a:bodyPr/>
          <a:lstStyle/>
          <a:p>
            <a:r>
              <a:rPr lang="en-US" dirty="0"/>
              <a:t>Canvas – create_line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008210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exercises/graphics/canvas_lines.py</a:t>
            </a: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exercises/graphics/canvas_lines_2.py</a:t>
            </a:r>
          </a:p>
          <a:p>
            <a:pPr marL="971550" lvl="1" indent="-457200"/>
            <a:endParaRPr lang="en-US" sz="3400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639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0580"/>
          </a:xfrm>
        </p:spPr>
        <p:txBody>
          <a:bodyPr/>
          <a:lstStyle/>
          <a:p>
            <a:r>
              <a:rPr lang="en-US" dirty="0"/>
              <a:t>Canvas – tags to group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008210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accent2"/>
                </a:solidFill>
              </a:rPr>
              <a:t>grouped by tag</a:t>
            </a:r>
          </a:p>
          <a:p>
            <a:pPr marL="971550" lvl="1" indent="-457200"/>
            <a:r>
              <a:rPr lang="en-US" sz="3400" dirty="0">
                <a:solidFill>
                  <a:schemeClr val="accent2"/>
                </a:solidFill>
              </a:rPr>
              <a:t>moved together</a:t>
            </a: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exercises/graphics/canvas_tags.py</a:t>
            </a:r>
          </a:p>
          <a:p>
            <a:pPr marL="971550" lvl="1" indent="-457200"/>
            <a:endParaRPr lang="en-US" sz="3400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518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0580"/>
          </a:xfrm>
        </p:spPr>
        <p:txBody>
          <a:bodyPr/>
          <a:lstStyle/>
          <a:p>
            <a:r>
              <a:rPr lang="en-US" dirty="0"/>
              <a:t>Events – Time passing – canvas.after()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0082106" cy="4110962"/>
          </a:xfrm>
        </p:spPr>
        <p:txBody>
          <a:bodyPr>
            <a:normAutofit lnSpcReduction="10000"/>
          </a:bodyPr>
          <a:lstStyle/>
          <a:p>
            <a:pPr marL="971550" lvl="1" indent="-457200"/>
            <a:r>
              <a:rPr lang="en-US" sz="3400" dirty="0">
                <a:solidFill>
                  <a:schemeClr val="accent1"/>
                </a:solidFill>
              </a:rPr>
              <a:t>canvas.after(time, function)</a:t>
            </a:r>
          </a:p>
          <a:p>
            <a:pPr marL="1371600" lvl="2" indent="-457200"/>
            <a:r>
              <a:rPr lang="en-US" sz="3200" dirty="0">
                <a:solidFill>
                  <a:schemeClr val="accent1"/>
                </a:solidFill>
              </a:rPr>
              <a:t>after </a:t>
            </a:r>
            <a:r>
              <a:rPr lang="en-US" sz="3200" b="1" dirty="0">
                <a:solidFill>
                  <a:schemeClr val="accent1"/>
                </a:solidFill>
              </a:rPr>
              <a:t>time</a:t>
            </a:r>
            <a:r>
              <a:rPr lang="en-US" sz="3200" dirty="0">
                <a:solidFill>
                  <a:schemeClr val="accent1"/>
                </a:solidFill>
              </a:rPr>
              <a:t> in milliseconds</a:t>
            </a:r>
          </a:p>
          <a:p>
            <a:pPr marL="1828800" lvl="3" indent="-457200"/>
            <a:r>
              <a:rPr lang="en-US" sz="3000" dirty="0">
                <a:solidFill>
                  <a:schemeClr val="accent1"/>
                </a:solidFill>
              </a:rPr>
              <a:t>0 time </a:t>
            </a:r>
            <a:r>
              <a:rPr lang="en-US" sz="3000" dirty="0">
                <a:solidFill>
                  <a:schemeClr val="accent1"/>
                </a:solidFill>
                <a:sym typeface="Wingdings" panose="05000000000000000000" pitchFamily="2" charset="2"/>
              </a:rPr>
              <a:t></a:t>
            </a:r>
            <a:r>
              <a:rPr lang="en-US" sz="3000" dirty="0">
                <a:solidFill>
                  <a:schemeClr val="accent1"/>
                </a:solidFill>
              </a:rPr>
              <a:t> as soon as possible</a:t>
            </a:r>
          </a:p>
          <a:p>
            <a:pPr marL="1371600" lvl="2" indent="-457200"/>
            <a:r>
              <a:rPr lang="en-US" sz="3200" b="1" dirty="0">
                <a:solidFill>
                  <a:schemeClr val="accent1"/>
                </a:solidFill>
              </a:rPr>
              <a:t>function</a:t>
            </a:r>
            <a:r>
              <a:rPr lang="en-US" sz="3200" dirty="0">
                <a:solidFill>
                  <a:schemeClr val="accent1"/>
                </a:solidFill>
              </a:rPr>
              <a:t> called</a:t>
            </a:r>
          </a:p>
          <a:p>
            <a:pPr marL="1828800" lvl="3" indent="-457200"/>
            <a:r>
              <a:rPr lang="en-US" sz="3000">
                <a:solidFill>
                  <a:schemeClr val="accent1"/>
                </a:solidFill>
              </a:rPr>
              <a:t>from </a:t>
            </a:r>
            <a:r>
              <a:rPr lang="en-US" sz="3000" dirty="0">
                <a:solidFill>
                  <a:schemeClr val="accent1"/>
                </a:solidFill>
              </a:rPr>
              <a:t>mainloop()</a:t>
            </a:r>
          </a:p>
          <a:p>
            <a:pPr marL="1371600" lvl="2" indent="-457200"/>
            <a:endParaRPr lang="en-US" sz="3200" dirty="0">
              <a:solidFill>
                <a:schemeClr val="accent1"/>
              </a:solidFill>
            </a:endParaRP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exercises/graphics/canvas_after.py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12/26/2022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2866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5"/>
            <a:ext cx="8596668" cy="1320800"/>
          </a:xfrm>
        </p:spPr>
        <p:txBody>
          <a:bodyPr>
            <a:normAutofit/>
          </a:bodyPr>
          <a:lstStyle/>
          <a:p>
            <a:r>
              <a:rPr lang="en-US" sz="6600" dirty="0"/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A7119916-CD40-456D-ABE3-55F8822671F7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011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FDC8-3694-0918-1C09-A0B4F21E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C4891-A654-24FD-106C-0CE430E6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B0F0"/>
                </a:solidFill>
              </a:rPr>
              <a:t>presentation\Class_5_Classes\samples\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0B0F0"/>
                </a:solidFill>
              </a:rPr>
              <a:t>balls_classes\ball_collision_2d.py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8C8C0-3C46-1F5E-0F6F-DCAA1661C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12/26/2022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BB441-455C-3848-ADD8-14B8A1C0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7DBED-AB9F-C25C-D42B-79064863C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9981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10834</TotalTime>
  <Words>1570</Words>
  <Application>Microsoft Office PowerPoint</Application>
  <PresentationFormat>Widescreen</PresentationFormat>
  <Paragraphs>305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Trebuchet MS</vt:lpstr>
      <vt:lpstr>Wingdings 3</vt:lpstr>
      <vt:lpstr>Facet</vt:lpstr>
      <vt:lpstr>Graphics Programming Introduction Using Python</vt:lpstr>
      <vt:lpstr>Course Objectives</vt:lpstr>
      <vt:lpstr>Instructor – Ray Smith raysmith@alum.mit.edu</vt:lpstr>
      <vt:lpstr>Our Online Class – Using Zoom</vt:lpstr>
      <vt:lpstr>Class Session Structure</vt:lpstr>
      <vt:lpstr>Graphics: Display / Control beyond text</vt:lpstr>
      <vt:lpstr>Graphics – continued</vt:lpstr>
      <vt:lpstr>Graphics – Creating a window exercises/graphics/my_window.py</vt:lpstr>
      <vt:lpstr>Graphics – Simple Messages</vt:lpstr>
      <vt:lpstr>Graphics widgets – graphics tools</vt:lpstr>
      <vt:lpstr>Graphics widgets – Frame</vt:lpstr>
      <vt:lpstr>Graphics widgets – Label</vt:lpstr>
      <vt:lpstr>Graphics widgets – Frame example</vt:lpstr>
      <vt:lpstr>Graphics widgets – Entry</vt:lpstr>
      <vt:lpstr>Graphics widgets – Button</vt:lpstr>
      <vt:lpstr>Graphics – continued</vt:lpstr>
      <vt:lpstr>Graphics program example simple text database</vt:lpstr>
      <vt:lpstr>Graphics widgets - Menu</vt:lpstr>
      <vt:lpstr>Graphics widgets – Canvas drawings/figures</vt:lpstr>
      <vt:lpstr>Canvas – create_line</vt:lpstr>
      <vt:lpstr>Canvas – tags to group elements</vt:lpstr>
      <vt:lpstr>Events – Time passing – canvas.after()</vt:lpstr>
      <vt:lpstr>Question and Answer</vt:lpstr>
      <vt:lpstr>Collisions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#5   Files</dc:title>
  <dc:creator>Charles Smith</dc:creator>
  <cp:lastModifiedBy>Charles Smith</cp:lastModifiedBy>
  <cp:revision>26</cp:revision>
  <dcterms:created xsi:type="dcterms:W3CDTF">2021-08-10T18:56:35Z</dcterms:created>
  <dcterms:modified xsi:type="dcterms:W3CDTF">2022-12-26T21:57:06Z</dcterms:modified>
</cp:coreProperties>
</file>