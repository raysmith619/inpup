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402" r:id="rId2"/>
    <p:sldId id="408" r:id="rId3"/>
    <p:sldId id="306" r:id="rId4"/>
    <p:sldId id="406" r:id="rId5"/>
    <p:sldId id="413" r:id="rId6"/>
    <p:sldId id="376" r:id="rId7"/>
    <p:sldId id="411" r:id="rId8"/>
    <p:sldId id="412" r:id="rId9"/>
    <p:sldId id="415" r:id="rId10"/>
    <p:sldId id="410" r:id="rId11"/>
    <p:sldId id="309" r:id="rId12"/>
    <p:sldId id="310" r:id="rId13"/>
    <p:sldId id="311" r:id="rId14"/>
    <p:sldId id="4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 autoAdjust="0"/>
    <p:restoredTop sz="86432" autoAdjust="0"/>
  </p:normalViewPr>
  <p:slideViewPr>
    <p:cSldViewPr snapToGrid="0">
      <p:cViewPr varScale="1">
        <p:scale>
          <a:sx n="87" d="100"/>
          <a:sy n="87" d="100"/>
        </p:scale>
        <p:origin x="72" y="712"/>
      </p:cViewPr>
      <p:guideLst/>
    </p:cSldViewPr>
  </p:slideViewPr>
  <p:outlineViewPr>
    <p:cViewPr>
      <p:scale>
        <a:sx n="33" d="100"/>
        <a:sy n="33" d="100"/>
      </p:scale>
      <p:origin x="0" y="-83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392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81610C-246B-6C0F-864F-F1F5AF4DD6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869F0-4957-8BA9-19B8-A9116A5B58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D3CE1-F05B-4C3D-9D5C-72AEEB268A38}" type="datetimeFigureOut">
              <a:rPr lang="en-US" smtClean="0"/>
              <a:t>8/15/2024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F7D9-7D3D-0F65-FCA2-8602B3129C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7F064-93F2-D62D-A00E-A1DF42E05B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60349-7797-4B8E-B883-64D4279BB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226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70B23-86E2-4053-8EEB-332AC694C455}" type="datetimeFigureOut">
              <a:rPr lang="en-US" smtClean="0"/>
              <a:t>8/15/2024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B330-CD4F-4B84-B95E-E0EEBAB52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795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element at index: 0</a:t>
            </a:r>
          </a:p>
          <a:p>
            <a:r>
              <a:rPr lang="en-US" dirty="0"/>
              <a:t>Last element at index: len()-1</a:t>
            </a:r>
          </a:p>
          <a:p>
            <a:r>
              <a:rPr lang="en-US" dirty="0"/>
              <a:t>What sort of information would fit into a list?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92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539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write "list friends" BEFORE "add friends"?</a:t>
            </a:r>
          </a:p>
          <a:p>
            <a:r>
              <a:rPr lang="en-US" dirty="0"/>
              <a:t>Hint: How do we test?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355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write "list friends" BEFORE "add friends"?</a:t>
            </a:r>
          </a:p>
          <a:p>
            <a:r>
              <a:rPr lang="en-US" dirty="0"/>
              <a:t>Hint: How do we test?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734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write "list friends" BEFORE "add friends"?</a:t>
            </a:r>
          </a:p>
          <a:p>
            <a:r>
              <a:rPr lang="en-US" dirty="0"/>
              <a:t>Hint: How do we test?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204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write "list friends" BEFORE "add friends"?</a:t>
            </a:r>
          </a:p>
          <a:p>
            <a:r>
              <a:rPr lang="en-US" dirty="0"/>
              <a:t>Hint: How do we test?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84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sort of information would fit into a string?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818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modifiable == immutable</a:t>
            </a:r>
          </a:p>
          <a:p>
            <a:r>
              <a:rPr lang="en-US" dirty="0"/>
              <a:t>Don't change – replace  - a </a:t>
            </a:r>
            <a:r>
              <a:rPr lang="en-US" b="1" dirty="0"/>
              <a:t>=</a:t>
            </a:r>
            <a:r>
              <a:rPr lang="en-US" dirty="0"/>
              <a:t> (</a:t>
            </a:r>
            <a:r>
              <a:rPr lang="en-US" i="1" dirty="0"/>
              <a:t>do stuff with a or parts of a</a:t>
            </a:r>
            <a:r>
              <a:rPr lang="en-US" dirty="0"/>
              <a:t>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174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modifiable == immutable</a:t>
            </a:r>
          </a:p>
          <a:p>
            <a:r>
              <a:rPr lang="en-US" dirty="0"/>
              <a:t>Don't change – replace  - a </a:t>
            </a:r>
            <a:r>
              <a:rPr lang="en-US" b="1" dirty="0"/>
              <a:t>=</a:t>
            </a:r>
            <a:r>
              <a:rPr lang="en-US" dirty="0"/>
              <a:t> (</a:t>
            </a:r>
            <a:r>
              <a:rPr lang="en-US" i="1" dirty="0"/>
              <a:t>do stuff with a or parts of a</a:t>
            </a:r>
            <a:r>
              <a:rPr lang="en-US" dirty="0"/>
              <a:t>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221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previous iteration as a start to the next.</a:t>
            </a:r>
          </a:p>
          <a:p>
            <a:r>
              <a:rPr lang="en-US" dirty="0"/>
              <a:t>I'll go around and watch.</a:t>
            </a:r>
          </a:p>
          <a:p>
            <a:r>
              <a:rPr lang="en-US" dirty="0"/>
              <a:t>Raise had if a question.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56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D5AE2-3AEE-F2A1-42EF-85BF7C4C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7F1-3EA0-4026-BE6A-31EE4E1B1DB5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772A3-0486-2ED4-DA20-17C5E8A1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raysmith@alum.mit.edu</a:t>
            </a: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Session #3 Functions – Why and How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ECAEF-05EF-A58F-D6D4-66D25098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4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53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92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645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2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56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1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1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672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076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0824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486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980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36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43F051-EE65-5950-AF03-05000CB0E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7334" y="6169073"/>
            <a:ext cx="5683126" cy="4748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raysmith@alum.mit.edu</a:t>
            </a: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Session #3 Functions – Why and How</a:t>
            </a:r>
          </a:p>
        </p:txBody>
      </p:sp>
    </p:spTree>
    <p:extLst>
      <p:ext uri="{BB962C8B-B14F-4D97-AF65-F5344CB8AC3E}">
        <p14:creationId xmlns:p14="http://schemas.microsoft.com/office/powerpoint/2010/main" val="25203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665890"/>
          </a:xfrm>
        </p:spPr>
        <p:txBody>
          <a:bodyPr>
            <a:noAutofit/>
          </a:bodyPr>
          <a:lstStyle/>
          <a:p>
            <a:r>
              <a:rPr lang="en-US" sz="5400" dirty="0"/>
              <a:t>Session #</a:t>
            </a:r>
            <a:r>
              <a:rPr lang="en-US" sz="4800" dirty="0"/>
              <a:t>3</a:t>
            </a:r>
            <a:br>
              <a:rPr lang="en-US" sz="4800" dirty="0"/>
            </a:br>
            <a:r>
              <a:rPr lang="en-US" sz="4800" dirty="0"/>
              <a:t>Functions – Why and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38248"/>
            <a:ext cx="8596668" cy="3503114"/>
          </a:xfrm>
        </p:spPr>
        <p:txBody>
          <a:bodyPr>
            <a:normAutofit/>
          </a:bodyPr>
          <a:lstStyle/>
          <a:p>
            <a:r>
              <a:rPr lang="en-US" sz="3600" dirty="0"/>
              <a:t>Questions on Programming?, Python?</a:t>
            </a:r>
          </a:p>
          <a:p>
            <a:r>
              <a:rPr lang="en-US" sz="3600" i="1" dirty="0"/>
              <a:t>Homework questions?</a:t>
            </a:r>
          </a:p>
          <a:p>
            <a:pPr lvl="1"/>
            <a:r>
              <a:rPr lang="en-US" sz="3200" i="1" dirty="0"/>
              <a:t>Who did it? To easy? To hard?</a:t>
            </a:r>
          </a:p>
          <a:p>
            <a:pPr lvl="1"/>
            <a:r>
              <a:rPr lang="en-US" sz="3200" i="1" dirty="0"/>
              <a:t>Questions on problems</a:t>
            </a:r>
          </a:p>
          <a:p>
            <a:pPr lvl="1"/>
            <a:r>
              <a:rPr lang="en-US" sz="3200" i="1" dirty="0"/>
              <a:t>Long answers in Q/A session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hlinkClick r:id="rId3"/>
              </a:rPr>
              <a:t>raysmith@alum.mit.edu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lang="en-US" sz="1000" dirty="0"/>
              <a:t>Session #</a:t>
            </a:r>
            <a:r>
              <a:rPr lang="en-US" sz="900" dirty="0"/>
              <a:t>3 Functions – Why and How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1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B95F-5CCF-4102-BFE4-D3F21A87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Preview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272B-00ED-438A-AFED-648E8B891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A software development example</a:t>
            </a:r>
          </a:p>
          <a:p>
            <a:pPr marL="1314450" lvl="2" indent="-457200"/>
            <a:r>
              <a:rPr lang="en-US" sz="3400" dirty="0">
                <a:solidFill>
                  <a:schemeClr val="accent1"/>
                </a:solidFill>
              </a:rPr>
              <a:t>presentation/Class_3…/</a:t>
            </a:r>
          </a:p>
          <a:p>
            <a:pPr marL="1314450" lvl="2" indent="-457200"/>
            <a:r>
              <a:rPr lang="en-US" sz="3400" dirty="0">
                <a:solidFill>
                  <a:schemeClr val="accent1"/>
                </a:solidFill>
              </a:rPr>
              <a:t>Iterations: bouncing_balls_dev/</a:t>
            </a:r>
          </a:p>
          <a:p>
            <a:pPr marL="1314450" lvl="2" indent="-457200"/>
            <a:r>
              <a:rPr lang="en-US" sz="3400" dirty="0">
                <a:solidFill>
                  <a:schemeClr val="accent1"/>
                </a:solidFill>
              </a:rPr>
              <a:t>Full-featured: Bouncing_balls_6.py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A6B5F-4A14-40F5-80BB-5ED824DF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A7119916-CD40-456D-ABE3-55F8822671F7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360E-D0C0-487A-AA98-5B39DD3F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0402-716F-4DFF-823A-191F2B21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07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– a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735081" cy="3880773"/>
          </a:xfrm>
        </p:spPr>
        <p:txBody>
          <a:bodyPr>
            <a:normAutofit fontScale="92500" lnSpcReduction="10000"/>
          </a:bodyPr>
          <a:lstStyle/>
          <a:p>
            <a:pPr marL="857250" lvl="1" indent="-457200"/>
            <a:r>
              <a:rPr lang="en-US" sz="3200" dirty="0"/>
              <a:t>Ordered group of values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friends = ["tom", "dick", "jane"]</a:t>
            </a:r>
          </a:p>
          <a:p>
            <a:pPr marL="857250" lvl="1" indent="-457200"/>
            <a:r>
              <a:rPr lang="en-US" sz="3200" dirty="0"/>
              <a:t>Access by position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, starting at 0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print("1</a:t>
            </a:r>
            <a:r>
              <a:rPr lang="en-US" sz="32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:", friends[0], " 3d:",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 friends[2])</a:t>
            </a:r>
          </a:p>
          <a:p>
            <a:pPr marL="857250" lvl="1" indent="-457200"/>
            <a:r>
              <a:rPr lang="en-US" sz="3200" dirty="0"/>
              <a:t>Add to end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friends.append("joe")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48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– more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98449"/>
            <a:ext cx="10735081" cy="4742914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sz="3200" dirty="0"/>
              <a:t>Loop (iterate) through list – colors.py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colors =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"red"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"orange"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"yellow"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    "green"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"blue"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"indigo"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"violet"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400050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color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colors:</a:t>
            </a:r>
          </a:p>
          <a:p>
            <a:pPr marL="40005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print(color)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52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E3CBE-F16E-46E3-BF27-20430291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Bouncing Ball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B5FB4-61F9-4F01-8B8A-8777F59C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354172" cy="3880773"/>
          </a:xfrm>
        </p:spPr>
        <p:txBody>
          <a:bodyPr>
            <a:normAutofit fontScale="40000" lnSpcReduction="20000"/>
          </a:bodyPr>
          <a:lstStyle/>
          <a:p>
            <a:r>
              <a:rPr lang="en-US" sz="3600" dirty="0"/>
              <a:t>Setup Ball – </a:t>
            </a:r>
            <a:r>
              <a:rPr lang="en-US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start_ball()</a:t>
            </a:r>
          </a:p>
          <a:p>
            <a:r>
              <a:rPr lang="en-US" sz="3600" dirty="0"/>
              <a:t>Loop forever</a:t>
            </a:r>
          </a:p>
          <a:p>
            <a:pPr lvl="1"/>
            <a:r>
              <a:rPr lang="en-US" sz="3200" dirty="0"/>
              <a:t>Check for edge - </a:t>
            </a:r>
            <a:r>
              <a:rPr lang="en-US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ball_edge_check()</a:t>
            </a:r>
          </a:p>
          <a:p>
            <a:pPr lvl="2"/>
            <a:r>
              <a:rPr lang="en-US" sz="3000" dirty="0"/>
              <a:t>Update ball if necessary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3200" dirty="0"/>
              <a:t>Update ball position/velocity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ball_update()</a:t>
            </a:r>
            <a:endParaRPr lang="en-US" sz="3200" dirty="0">
              <a:solidFill>
                <a:srgbClr val="0070C0"/>
              </a:solidFill>
            </a:endParaRPr>
          </a:p>
          <a:p>
            <a:pPr lvl="1"/>
            <a:r>
              <a:rPr lang="en-US" sz="3200" dirty="0"/>
              <a:t>Display ball -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ball_display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0"/>
            <a:r>
              <a:rPr lang="en-US" dirty="0"/>
              <a:t>Developing bouncing ball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Simplest start – just a loop – …balls_0_1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Subroutines for each major part - …balls_1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Add turtle code for ball display - …balls_2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Add basic ball update code - …balls_3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Add edge detection / collision - …balls_4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Liven up collisions – …balls_5,6</a:t>
            </a:r>
          </a:p>
          <a:p>
            <a:endParaRPr lang="en-US" sz="3200" dirty="0">
              <a:solidFill>
                <a:schemeClr val="accent1"/>
              </a:solidFill>
            </a:endParaRPr>
          </a:p>
          <a:p>
            <a:endParaRPr lang="en-US" sz="3200" dirty="0">
              <a:solidFill>
                <a:schemeClr val="accent1"/>
              </a:solidFill>
            </a:endParaRPr>
          </a:p>
          <a:p>
            <a:endParaRPr lang="en-US" sz="2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DFDD-F493-473E-839F-17C14FAD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A7119916-CD40-456D-ABE3-55F8822671F7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00CB6-9471-472B-879F-F2E88B3E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435E6-73A7-4954-8ED1-4940540E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74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–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Can be grouped in modules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57300" lvl="2" indent="-457200"/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Friends (names) – provide list with tools</a:t>
            </a:r>
          </a:p>
          <a:p>
            <a:pPr marL="1257300" lvl="2" indent="-457200"/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What functions?</a:t>
            </a:r>
          </a:p>
          <a:p>
            <a:pPr marL="1257300" lvl="2" indent="-457200"/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Storage - what's available?</a:t>
            </a:r>
          </a:p>
          <a:p>
            <a:pPr marL="800100" lvl="2" indent="0">
              <a:buNone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Files available in </a:t>
            </a:r>
            <a:r>
              <a:rPr lang="en-US" sz="2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intro_prog\exercises\functions\friends_family\simple\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11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Functions -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a Simple path to modules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314450" lvl="2" indent="-514350">
              <a:buFont typeface="+mj-lt"/>
              <a:buAutoNum type="alphaLcPeriod"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Name storage – just a list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Simple access – adding, listing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A simple listing function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A place/file/module to hold the friends function(s)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Testing the module</a:t>
            </a:r>
          </a:p>
          <a:p>
            <a:pPr marL="1771650" lvl="3" indent="-514350"/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with a shortened name</a:t>
            </a:r>
          </a:p>
          <a:p>
            <a:pPr marL="800100" lvl="2" indent="0">
              <a:buNone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  <a:p>
            <a:pPr marL="1314450" lvl="2" indent="-514350">
              <a:buFont typeface="+mj-lt"/>
              <a:buAutoNum type="alphaLcPeriod"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95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–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continued path to modules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2" indent="0">
              <a:buNone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f. Expand friends module: friends_mod.py</a:t>
            </a:r>
          </a:p>
          <a:p>
            <a:pPr marL="1714500" lvl="3" indent="-457200"/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Add set_friends(), add_friend()</a:t>
            </a:r>
          </a:p>
          <a:p>
            <a:pPr marL="1771650" lvl="3" indent="-5143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hide  direct external access to storage</a:t>
            </a:r>
          </a:p>
          <a:p>
            <a:pPr marL="800100" lvl="2" indent="0">
              <a:buNone/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g. Use expanded friends  module</a:t>
            </a:r>
          </a:p>
          <a:p>
            <a:pPr marL="1257300" lvl="3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friends_mod_use.py</a:t>
            </a:r>
          </a:p>
          <a:p>
            <a:pPr marL="1314450" lvl="2" indent="-514350"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  <a:p>
            <a:pPr marL="1314450" lvl="2" indent="-514350"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  <a:p>
            <a:pPr marL="1314450" lvl="2" indent="-514350">
              <a:buFont typeface="+mj-lt"/>
              <a:buAutoNum type="alphaLcPeriod"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  <a:p>
            <a:pPr marL="1314450" lvl="2" indent="-514350">
              <a:buFont typeface="+mj-lt"/>
              <a:buAutoNum type="alphaLcPeriod"/>
            </a:pPr>
            <a:endParaRPr lang="en-US" sz="3000" dirty="0">
              <a:solidFill>
                <a:schemeClr val="accent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3E9B1-8943-314B-A126-EF4CA5A5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8937"/>
          </a:xfrm>
        </p:spPr>
        <p:txBody>
          <a:bodyPr/>
          <a:lstStyle/>
          <a:p>
            <a:r>
              <a:rPr lang="en-US" dirty="0"/>
              <a:t>Friends – development files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00B47-9C3F-0931-8B7E-FB74D868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8207"/>
            <a:ext cx="8596668" cy="461315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Start as a list – friends_a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Test list – friends_b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Add simple “list friends” function – friends_c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Start a module – friends_d_mod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Test import module – friends_e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Import as different name – friends_e2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Test module from separate file – friends_mod_use</a:t>
            </a:r>
          </a:p>
          <a:p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FA403-2997-C1E0-C1A8-C001A36C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7F1-3EA0-4026-BE6A-31EE4E1B1DB5}" type="datetime1">
              <a:rPr lang="en-US" smtClean="0"/>
              <a:t>8/15/2024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0876-C251-1DFD-B784-0645A438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raysmith@alum.mit.edu</a:t>
            </a: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Session #3 Functions – Why and How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40CE7-17B1-6FF3-E77E-2810CA87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0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Help / Info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on Functions plus Other Stuff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257300" lvl="2" indent="-457200"/>
            <a:r>
              <a:rPr lang="en-US" sz="3000" dirty="0">
                <a:latin typeface="+mj-lt"/>
                <a:cs typeface="Courier New" panose="02070309020205020404" pitchFamily="49" charset="0"/>
              </a:rPr>
              <a:t>IDLE-&gt;Help-&gt;Python Docs(F1)</a:t>
            </a:r>
          </a:p>
          <a:p>
            <a:pPr marL="1257300" lvl="2" indent="-457200"/>
            <a:r>
              <a:rPr lang="en-US" sz="3000" dirty="0">
                <a:latin typeface="+mj-lt"/>
                <a:cs typeface="Courier New" panose="02070309020205020404" pitchFamily="49" charset="0"/>
              </a:rPr>
              <a:t>       Python Tutorial:</a:t>
            </a:r>
          </a:p>
          <a:p>
            <a:pPr marL="1257300" lvl="3" indent="0">
              <a:buNone/>
            </a:pPr>
            <a:r>
              <a:rPr lang="en-US" sz="2800" dirty="0">
                <a:latin typeface="+mj-lt"/>
                <a:cs typeface="Courier New" panose="02070309020205020404" pitchFamily="49" charset="0"/>
              </a:rPr>
              <a:t>           4.7. Defining Functions (Approx #)</a:t>
            </a:r>
          </a:p>
          <a:p>
            <a:pPr marL="1257300" lvl="3" indent="0">
              <a:buNone/>
            </a:pPr>
            <a:r>
              <a:rPr lang="en-US" sz="2800" dirty="0">
                <a:latin typeface="+mj-lt"/>
                <a:cs typeface="Courier New" panose="02070309020205020404" pitchFamily="49" charset="0"/>
              </a:rPr>
              <a:t>           4.8. More on Defining Functions</a:t>
            </a:r>
          </a:p>
          <a:p>
            <a:pPr marL="1257300" lvl="3" indent="0">
              <a:buNone/>
            </a:pPr>
            <a:r>
              <a:rPr lang="en-US" sz="2800" dirty="0">
                <a:latin typeface="+mj-lt"/>
                <a:cs typeface="Courier New" panose="02070309020205020404" pitchFamily="49" charset="0"/>
              </a:rPr>
              <a:t>           4.8.2. Keyword Arguments</a:t>
            </a:r>
          </a:p>
          <a:p>
            <a:pPr marL="1257300" lvl="2" indent="-457200"/>
            <a:r>
              <a:rPr lang="en-US" sz="3000" dirty="0">
                <a:latin typeface="+mj-lt"/>
                <a:cs typeface="Courier New" panose="02070309020205020404" pitchFamily="49" charset="0"/>
              </a:rPr>
              <a:t>       The Python Language Reference</a:t>
            </a:r>
          </a:p>
          <a:p>
            <a:pPr marL="857250" lvl="1" indent="-457200"/>
            <a:endParaRPr lang="en-US" sz="3200" dirty="0">
              <a:latin typeface="+mj-lt"/>
              <a:cs typeface="Courier New" panose="02070309020205020404" pitchFamily="49" charset="0"/>
            </a:endParaRPr>
          </a:p>
          <a:p>
            <a:pPr marL="857250" lvl="1" indent="-457200"/>
            <a:r>
              <a:rPr lang="en-US" sz="3200" dirty="0">
                <a:latin typeface="+mj-lt"/>
                <a:cs typeface="Courier New" panose="02070309020205020404" pitchFamily="49" charset="0"/>
              </a:rPr>
              <a:t>  Online - https://www.w3schools.com/python</a:t>
            </a:r>
          </a:p>
          <a:p>
            <a:pPr marL="1714500" lvl="3" indent="-457200"/>
            <a:endParaRPr lang="en-US" sz="28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4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- Like a lists of characters - ALMOST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257300" lvl="2" indent="-457200"/>
            <a:r>
              <a:rPr lang="en-US" sz="3600" dirty="0"/>
              <a:t>Assigned as a group, not via index</a:t>
            </a:r>
          </a:p>
          <a:p>
            <a:pPr marL="1257300" lvl="3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str_name = "abcdef"</a:t>
            </a:r>
          </a:p>
          <a:p>
            <a:pPr marL="1257300" lvl="3" indent="0">
              <a:buNone/>
            </a:pPr>
            <a:r>
              <a:rPr lang="en-US" sz="3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str_name[0] = "a"</a:t>
            </a:r>
          </a:p>
          <a:p>
            <a:pPr marL="1257300" lvl="2" indent="-457200"/>
            <a:r>
              <a:rPr lang="en-US" sz="3600" dirty="0"/>
              <a:t>Can be Accessed by index</a:t>
            </a:r>
          </a:p>
          <a:p>
            <a:pPr marL="1257300" lvl="3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if str_name[1] == "b":</a:t>
            </a:r>
          </a:p>
          <a:p>
            <a:pPr marL="1257300" lvl="3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print("Yep it’s the second character")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79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257300" lvl="2" indent="-457200"/>
            <a:r>
              <a:rPr lang="en-US" sz="3600" dirty="0">
                <a:cs typeface="Courier New" panose="02070309020205020404" pitchFamily="49" charset="0"/>
              </a:rPr>
              <a:t>Strings </a:t>
            </a:r>
            <a:r>
              <a:rPr lang="en-US" sz="3600" b="1" dirty="0">
                <a:solidFill>
                  <a:srgbClr val="C00000"/>
                </a:solidFill>
                <a:cs typeface="Courier New" panose="02070309020205020404" pitchFamily="49" charset="0"/>
              </a:rPr>
              <a:t>can't</a:t>
            </a:r>
            <a:r>
              <a:rPr lang="en-US" sz="3600" dirty="0">
                <a:cs typeface="Courier New" panose="02070309020205020404" pitchFamily="49" charset="0"/>
              </a:rPr>
              <a:t> be changed in place (immutable)</a:t>
            </a:r>
          </a:p>
          <a:p>
            <a:pPr marL="1257300" lvl="2" indent="-457200"/>
            <a:r>
              <a:rPr lang="en-US" sz="3600" dirty="0">
                <a:cs typeface="Courier New" panose="02070309020205020404" pitchFamily="49" charset="0"/>
              </a:rPr>
              <a:t>But </a:t>
            </a:r>
            <a:r>
              <a:rPr lang="en-US" sz="3600" b="1" dirty="0">
                <a:cs typeface="Courier New" panose="02070309020205020404" pitchFamily="49" charset="0"/>
              </a:rPr>
              <a:t>+=</a:t>
            </a:r>
            <a:r>
              <a:rPr lang="en-US" sz="3600" dirty="0">
                <a:cs typeface="Courier New" panose="02070309020205020404" pitchFamily="49" charset="0"/>
              </a:rPr>
              <a:t> works</a:t>
            </a:r>
          </a:p>
          <a:p>
            <a:pPr marL="1257300" lvl="3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last_name</a:t>
            </a:r>
          </a:p>
          <a:p>
            <a:pPr marL="800100" lvl="2" indent="0">
              <a:buNone/>
            </a:pP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Because x </a:t>
            </a:r>
            <a:r>
              <a:rPr lang="en-US" sz="3600" b="1" dirty="0">
                <a:solidFill>
                  <a:schemeClr val="tx1"/>
                </a:solidFill>
                <a:cs typeface="Courier New" panose="02070309020205020404" pitchFamily="49" charset="0"/>
              </a:rPr>
              <a:t>+= </a:t>
            </a:r>
            <a:r>
              <a:rPr lang="en-US" sz="3600" i="1" dirty="0">
                <a:solidFill>
                  <a:schemeClr val="tx1"/>
                </a:solidFill>
                <a:cs typeface="Courier New" panose="02070309020205020404" pitchFamily="49" charset="0"/>
              </a:rPr>
              <a:t>y</a:t>
            </a: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 defined</a:t>
            </a:r>
            <a:r>
              <a:rPr lang="en-US" sz="3600" b="1" dirty="0">
                <a:solidFill>
                  <a:schemeClr val="accent2"/>
                </a:solidFill>
                <a:cs typeface="Courier New" panose="02070309020205020404" pitchFamily="49" charset="0"/>
              </a:rPr>
              <a:t> </a:t>
            </a: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as </a:t>
            </a:r>
            <a:r>
              <a:rPr lang="en-US" sz="3600" i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cs typeface="Courier New" panose="02070309020205020404" pitchFamily="49" charset="0"/>
              </a:rPr>
              <a:t>=</a:t>
            </a: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sz="3600" i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cs typeface="Courier New" panose="02070309020205020404" pitchFamily="49" charset="0"/>
              </a:rPr>
              <a:t>+</a:t>
            </a:r>
            <a:r>
              <a:rPr lang="en-US" sz="36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sz="3600" i="1" dirty="0">
                <a:solidFill>
                  <a:schemeClr val="tx1"/>
                </a:solidFill>
                <a:cs typeface="Courier New" panose="02070309020205020404" pitchFamily="49" charset="0"/>
              </a:rPr>
              <a:t>y</a:t>
            </a:r>
            <a:endParaRPr lang="en-US" sz="36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1257300" lvl="3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last_name</a:t>
            </a:r>
            <a:endParaRPr lang="en-US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38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– continued -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257300" lvl="2" indent="-457200"/>
            <a:r>
              <a:rPr lang="en-US" sz="3600" dirty="0">
                <a:cs typeface="Courier New" panose="02070309020205020404" pitchFamily="49" charset="0"/>
              </a:rPr>
              <a:t>Not modifiable == immutable</a:t>
            </a:r>
          </a:p>
          <a:p>
            <a:pPr marL="1257300" lvl="2" indent="-457200"/>
            <a:r>
              <a:rPr lang="en-US" sz="3600" dirty="0">
                <a:cs typeface="Courier New" panose="02070309020205020404" pitchFamily="49" charset="0"/>
              </a:rPr>
              <a:t>Don't change – replace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str_name = "a" + str_name[1:]</a:t>
            </a:r>
          </a:p>
          <a:p>
            <a:pPr marL="1257300" lvl="2" indent="-457200"/>
            <a:endParaRPr lang="en-US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22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731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7323</TotalTime>
  <Words>1129</Words>
  <Application>Microsoft Office PowerPoint</Application>
  <PresentationFormat>Widescreen</PresentationFormat>
  <Paragraphs>202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Session #3 Functions – Why and How</vt:lpstr>
      <vt:lpstr>Overall Preview Samples</vt:lpstr>
      <vt:lpstr>Lists – a review</vt:lpstr>
      <vt:lpstr>Lists – more review</vt:lpstr>
      <vt:lpstr>Bouncing Ball Plan</vt:lpstr>
      <vt:lpstr>Functions – Can be grouped in modules</vt:lpstr>
      <vt:lpstr>Functions - a Simple path to modules </vt:lpstr>
      <vt:lpstr>Functions – continued path to modules</vt:lpstr>
      <vt:lpstr>Friends – development files - Summary</vt:lpstr>
      <vt:lpstr>Help / Info on Functions plus Other Stuff</vt:lpstr>
      <vt:lpstr>Strings - Like a lists of characters - ALMOST</vt:lpstr>
      <vt:lpstr>Strings - continued</vt:lpstr>
      <vt:lpstr>Strings – continued - immutable</vt:lpstr>
      <vt:lpstr>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#3 Functions – Why and How</dc:title>
  <dc:creator>Charles Smith</dc:creator>
  <cp:lastModifiedBy>Charles Smith</cp:lastModifiedBy>
  <cp:revision>25</cp:revision>
  <dcterms:created xsi:type="dcterms:W3CDTF">2021-08-10T18:18:52Z</dcterms:created>
  <dcterms:modified xsi:type="dcterms:W3CDTF">2024-08-16T13:18:00Z</dcterms:modified>
</cp:coreProperties>
</file>